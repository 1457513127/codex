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2790323d77f4e56" /><Relationship Type="http://schemas.openxmlformats.org/officeDocument/2006/relationships/extended-properties" Target="/docProps/app.xml" Id="Re3009efd8b194ac4" /><Relationship Type="http://schemas.openxmlformats.org/officeDocument/2006/relationships/officeDocument" Target="/ppt/presentation.xml" Id="Ra9bad193020a4f9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4807b7d00a14f65"/>
  </p:sldMasterIdLst>
  <p:notesMasterIdLst>
    <p:notesMasterId xmlns:r="http://schemas.openxmlformats.org/officeDocument/2006/relationships" r:id="R7d88508ffdcc47c1"/>
  </p:notesMasterIdLst>
  <p:sldIdLst>
    <p:sldId xmlns:r="http://schemas.openxmlformats.org/officeDocument/2006/relationships" id="256" r:id="Rb9899808ee74415a"/>
    <p:sldId xmlns:r="http://schemas.openxmlformats.org/officeDocument/2006/relationships" id="257" r:id="R3bd3717d686f41e5"/>
    <p:sldId xmlns:r="http://schemas.openxmlformats.org/officeDocument/2006/relationships" id="258" r:id="R237ef234021c4118"/>
    <p:sldId xmlns:r="http://schemas.openxmlformats.org/officeDocument/2006/relationships" id="259" r:id="R99e44db164294296"/>
    <p:sldId xmlns:r="http://schemas.openxmlformats.org/officeDocument/2006/relationships" id="260" r:id="R95dc87b29a644192"/>
    <p:sldId xmlns:r="http://schemas.openxmlformats.org/officeDocument/2006/relationships" id="261" r:id="R0c526f57785c45b4"/>
    <p:sldId xmlns:r="http://schemas.openxmlformats.org/officeDocument/2006/relationships" id="262" r:id="R66ed167bcfa6437e"/>
    <p:sldId xmlns:r="http://schemas.openxmlformats.org/officeDocument/2006/relationships" id="263" r:id="R61ca5df9e3434ff8"/>
    <p:sldId xmlns:r="http://schemas.openxmlformats.org/officeDocument/2006/relationships" id="264" r:id="Rb4e7ce5b1adf4d3c"/>
    <p:sldId xmlns:r="http://schemas.openxmlformats.org/officeDocument/2006/relationships" id="265" r:id="Rafa675fb26204c6e"/>
    <p:sldId xmlns:r="http://schemas.openxmlformats.org/officeDocument/2006/relationships" id="266" r:id="R2937ee77c30c4c80"/>
    <p:sldId xmlns:r="http://schemas.openxmlformats.org/officeDocument/2006/relationships" id="267" r:id="R2b1894392bb3467c"/>
    <p:sldId xmlns:r="http://schemas.openxmlformats.org/officeDocument/2006/relationships" id="268" r:id="Ra696326bf3884f0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807b7d00a14f65" /><Relationship Type="http://schemas.openxmlformats.org/officeDocument/2006/relationships/theme" Target="/ppt/theme/theme1.xml" Id="R99a2fb3ab56b4341" /><Relationship Type="http://schemas.openxmlformats.org/officeDocument/2006/relationships/notesMaster" Target="/ppt/notesMasters/notesMaster1.xml" Id="R7d88508ffdcc47c1" /><Relationship Type="http://schemas.openxmlformats.org/officeDocument/2006/relationships/presProps" Target="/ppt/presProps.xml" Id="R049154c0053d47f6" /><Relationship Type="http://schemas.openxmlformats.org/officeDocument/2006/relationships/viewProps" Target="/ppt/viewProps.xml" Id="R9ec0e035de184399" /><Relationship Type="http://schemas.openxmlformats.org/officeDocument/2006/relationships/tableStyles" Target="/ppt/tableStyles.xml" Id="R346e999ebe6847cf" /><Relationship Type="http://schemas.openxmlformats.org/officeDocument/2006/relationships/slide" Target="/ppt/slides/slide1.xml" Id="Rb9899808ee74415a" /><Relationship Type="http://schemas.openxmlformats.org/officeDocument/2006/relationships/slide" Target="/ppt/slides/slide2.xml" Id="R3bd3717d686f41e5" /><Relationship Type="http://schemas.openxmlformats.org/officeDocument/2006/relationships/slide" Target="/ppt/slides/slide3.xml" Id="R237ef234021c4118" /><Relationship Type="http://schemas.openxmlformats.org/officeDocument/2006/relationships/slide" Target="/ppt/slides/slide4.xml" Id="R99e44db164294296" /><Relationship Type="http://schemas.openxmlformats.org/officeDocument/2006/relationships/slide" Target="/ppt/slides/slide5.xml" Id="R95dc87b29a644192" /><Relationship Type="http://schemas.openxmlformats.org/officeDocument/2006/relationships/slide" Target="/ppt/slides/slide6.xml" Id="R0c526f57785c45b4" /><Relationship Type="http://schemas.openxmlformats.org/officeDocument/2006/relationships/slide" Target="/ppt/slides/slide7.xml" Id="R66ed167bcfa6437e" /><Relationship Type="http://schemas.openxmlformats.org/officeDocument/2006/relationships/slide" Target="/ppt/slides/slide8.xml" Id="R61ca5df9e3434ff8" /><Relationship Type="http://schemas.openxmlformats.org/officeDocument/2006/relationships/slide" Target="/ppt/slides/slide9.xml" Id="Rb4e7ce5b1adf4d3c" /><Relationship Type="http://schemas.openxmlformats.org/officeDocument/2006/relationships/slide" Target="/ppt/slides/slide10.xml" Id="Rafa675fb26204c6e" /><Relationship Type="http://schemas.openxmlformats.org/officeDocument/2006/relationships/slide" Target="/ppt/slides/slide11.xml" Id="R2937ee77c30c4c80" /><Relationship Type="http://schemas.openxmlformats.org/officeDocument/2006/relationships/slide" Target="/ppt/slides/slide12.xml" Id="R2b1894392bb3467c" /><Relationship Type="http://schemas.openxmlformats.org/officeDocument/2006/relationships/slide" Target="/ppt/slides/slide13.xml" Id="Ra696326bf3884f0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749dd1a0ffac45a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c77d84684424808" /><Relationship Type="http://schemas.openxmlformats.org/officeDocument/2006/relationships/notesMaster" Target="/ppt/notesMasters/notesMaster1.xml" Id="R4d824ebb19b8439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9bcfedc7947470f" /><Relationship Type="http://schemas.openxmlformats.org/officeDocument/2006/relationships/notesMaster" Target="/ppt/notesMasters/notesMaster1.xml" Id="R1956e98445b04c8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7fc4996aead4058" /><Relationship Type="http://schemas.openxmlformats.org/officeDocument/2006/relationships/notesMaster" Target="/ppt/notesMasters/notesMaster1.xml" Id="R755217e177c6486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765a0c787504859" /><Relationship Type="http://schemas.openxmlformats.org/officeDocument/2006/relationships/notesMaster" Target="/ppt/notesMasters/notesMaster1.xml" Id="Rdff6da19e59f4d4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c623a238c5b44cb" /><Relationship Type="http://schemas.openxmlformats.org/officeDocument/2006/relationships/notesMaster" Target="/ppt/notesMasters/notesMaster1.xml" Id="Rfd347ea5057847c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8942f51190a4b01" /><Relationship Type="http://schemas.openxmlformats.org/officeDocument/2006/relationships/notesMaster" Target="/ppt/notesMasters/notesMaster1.xml" Id="R771473b3342647d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abf46c9a9f74663" /><Relationship Type="http://schemas.openxmlformats.org/officeDocument/2006/relationships/notesMaster" Target="/ppt/notesMasters/notesMaster1.xml" Id="Re2b1a733efbd470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3e8d082ea514c62" /><Relationship Type="http://schemas.openxmlformats.org/officeDocument/2006/relationships/notesMaster" Target="/ppt/notesMasters/notesMaster1.xml" Id="R190f91b5112440c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e79781aec034a5b" /><Relationship Type="http://schemas.openxmlformats.org/officeDocument/2006/relationships/notesMaster" Target="/ppt/notesMasters/notesMaster1.xml" Id="R661c8da2a39d4f1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b53378568414cc6" /><Relationship Type="http://schemas.openxmlformats.org/officeDocument/2006/relationships/notesMaster" Target="/ppt/notesMasters/notesMaster1.xml" Id="R4a87ab9c70b2454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ad90b034c7c407b" /><Relationship Type="http://schemas.openxmlformats.org/officeDocument/2006/relationships/notesMaster" Target="/ppt/notesMasters/notesMaster1.xml" Id="Rf9070d27690240e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b1eb7f2ce514aa7" /><Relationship Type="http://schemas.openxmlformats.org/officeDocument/2006/relationships/notesMaster" Target="/ppt/notesMasters/notesMaster1.xml" Id="Rdf53bac9ab5d400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951b670c54c400f" /><Relationship Type="http://schemas.openxmlformats.org/officeDocument/2006/relationships/notesMaster" Target="/ppt/notesMasters/notesMaster1.xml" Id="R5d3ad3eb19ed4df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ce31d962684eb2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a7a79ac8f8e94a7d" /><Relationship Type="http://schemas.openxmlformats.org/officeDocument/2006/relationships/slideLayout" Target="/ppt/slideLayouts/slideLayout2.xml" Id="R0858740c217848a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858740c217848a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f54bdcd12c4074" /><Relationship Type="http://schemas.openxmlformats.org/officeDocument/2006/relationships/notesSlide" Target="/ppt/notesSlides/notesSlide1.xml" Id="Rfdcb77dfa8bc43a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07b36a038d54eb4" /><Relationship Type="http://schemas.openxmlformats.org/officeDocument/2006/relationships/notesSlide" Target="/ppt/notesSlides/notesSlide2.xml" Id="R73f4a0ced519439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b7b137b8b1840ae" /><Relationship Type="http://schemas.openxmlformats.org/officeDocument/2006/relationships/notesSlide" Target="/ppt/notesSlides/notesSlide3.xml" Id="R52fed78b9204470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9ca015654f47ce" /><Relationship Type="http://schemas.openxmlformats.org/officeDocument/2006/relationships/notesSlide" Target="/ppt/notesSlides/notesSlide4.xml" Id="Rd3a7e4a6937646b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10355318ddd4c34" /><Relationship Type="http://schemas.openxmlformats.org/officeDocument/2006/relationships/notesSlide" Target="/ppt/notesSlides/notesSlide5.xml" Id="R4f1be0ea40ac4b7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61fa4b7171b4501" /><Relationship Type="http://schemas.openxmlformats.org/officeDocument/2006/relationships/notesSlide" Target="/ppt/notesSlides/notesSlide6.xml" Id="R626233084700421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3a02c7fe7a43ba" /><Relationship Type="http://schemas.openxmlformats.org/officeDocument/2006/relationships/notesSlide" Target="/ppt/notesSlides/notesSlide7.xml" Id="R1bb56b486377460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f1a43a249ee4978" /><Relationship Type="http://schemas.openxmlformats.org/officeDocument/2006/relationships/notesSlide" Target="/ppt/notesSlides/notesSlide8.xml" Id="Rd5c1b81abcb444c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6e78405b1c045aa" /><Relationship Type="http://schemas.openxmlformats.org/officeDocument/2006/relationships/notesSlide" Target="/ppt/notesSlides/notesSlide9.xml" Id="R140128e26ed5432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41c4371e594aa8" /><Relationship Type="http://schemas.openxmlformats.org/officeDocument/2006/relationships/notesSlide" Target="/ppt/notesSlides/notesSlide10.xml" Id="R7facaac148c24cd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a9a1f522db4722" /><Relationship Type="http://schemas.openxmlformats.org/officeDocument/2006/relationships/notesSlide" Target="/ppt/notesSlides/notesSlide11.xml" Id="R0ca96c404719462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e0ca59ebd741c0" /><Relationship Type="http://schemas.openxmlformats.org/officeDocument/2006/relationships/notesSlide" Target="/ppt/notesSlides/notesSlide12.xml" Id="Raf06e2676587420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1ed4c3c1ae4680" /><Relationship Type="http://schemas.openxmlformats.org/officeDocument/2006/relationships/notesSlide" Target="/ppt/notesSlides/notesSlide13.xml" Id="R427ded89ffb14e2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4BCA16-E12A-4464-A6B7-38B53AB8B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BDB8C7-AB0F-461B-B222-23A014BD8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9621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E59692-D5C0-4D01-8C41-E90937D08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1500"/>
            <a:ext cx="17716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产品蓝图同步会 · 现场主讲版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FB740C-F7D6-4ED9-8900-B81B49FD3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8191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37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和趣社群店铺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41351D-3DCA-4DE0-93DE-991F0A537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971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37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驱动三场景私域变现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0BCA9C-4CAB-42CB-878C-40E580284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24200"/>
            <a:ext cx="6953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4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活动变现  /  电商变现  /  本地服务变现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CE642E-2A68-4DFE-97B4-8C4F09F5C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solidFill>
              <a:srgbClr val="DDDDD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0F2888-5312-46AF-B968-9132C702E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5770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社群类型建店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CD84C3-26F9-47D1-9086-A44ED1136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448175"/>
            <a:ext cx="333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587518-61FC-460D-A102-3E0BFEEA9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45770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审核货盘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B8CB8A-514D-4B2C-999F-8DFAE0897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448175"/>
            <a:ext cx="333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466CA8-F8F4-4918-8DE6-A7FC05D6F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45770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三场景成交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52313D-B52A-4513-9D18-D84452942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448175"/>
            <a:ext cx="333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A32FAE-18B6-4C85-B8D2-F90B544B1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5770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履约售后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7382B7-4819-444E-9166-5E04F5D79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448175"/>
            <a:ext cx="333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EE695B-06AA-48F3-8653-8633E417A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45770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一级收益结算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107A98-21C8-4703-ABF4-7D91592FE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106680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8B2AAA-C6B2-4CAC-83F6-F8809F44B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91175"/>
            <a:ext cx="100965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会议性质：方向同步与前置任务下发   |   日期：2026.05.27   |   受众：开发、运营、支付/财务、合规</a:t>
            </a:r>
          </a:p>
        </p:txBody>
      </p:sp>
    </p:spTree>
    <p:extLst>
      <p:ext uri="{BB962C8B-B14F-4D97-AF65-F5344CB8AC3E}">
        <p14:creationId xmlns:p14="http://schemas.microsoft.com/office/powerpoint/2010/main" val="110487942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44CF873-C606-4944-8071-080867637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EAFF63-1B65-4CBC-BBA3-46877FC6F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95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01 / 会议任务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F3A555-3BD6-413D-9EAB-CDCE0D869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57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这不是方向讨论会，而是首发主线的同步与任务领取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BD2AD3-C730-437F-BE16-0E7A51246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solidFill>
              <a:srgbClr val="DDDDD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E7AAA0-C62B-44B6-918B-EABABC4E0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53200"/>
            <a:ext cx="4953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和趣 | 社群店铺三场景产品蓝图同步会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03D4E7-986E-4F8C-A285-F01CC5D0B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19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084827-FD7F-43B5-8DD2-A7B205ED9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85950"/>
            <a:ext cx="4448175" cy="3762375"/>
          </a:xfrm>
          <a:prstGeom xmlns:a="http://schemas.openxmlformats.org/drawingml/2006/main" prst="roundRect">
            <a:avLst>
              <a:gd name="adj" fmla="val 2025"/>
            </a:avLst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D27C9D-E995-498C-ADE7-9AD8DAAF4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6858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BAB80C-AAAB-403B-982A-17ECFCCEA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81225"/>
            <a:ext cx="4953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90 MIN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A0AAEA-7D28-4792-992C-D3167D962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28900"/>
            <a:ext cx="3524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本次要让团队拿走三件事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970DF5-56EA-48A1-BBF6-2BD130059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76600"/>
            <a:ext cx="35718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0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01  同一条产品主线与首发边界</a:t>
            </a:r>
          </a:p>
          <a:p xmlns:a="http://schemas.openxmlformats.org/drawingml/2006/main">
            <a:pPr algn="l">
              <a:defRPr sz="1275" b="0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0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02  通用底座与三场景预开发拆解</a:t>
            </a:r>
          </a:p>
          <a:p xmlns:a="http://schemas.openxmlformats.org/drawingml/2006/main">
            <a:pPr algn="l">
              <a:defRPr sz="1275" b="0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0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03  支付、履约与合规核验清单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5DB4D0-17C6-4E69-A8D0-ED90ED4F8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76825"/>
            <a:ext cx="3381375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5C9D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5C9D0"/>
                </a:solidFill>
                <a:latin typeface="Microsoft YaHei UI"/>
                <a:ea typeface="Microsoft YaHei UI"/>
                <a:cs typeface="Microsoft YaHei UI"/>
              </a:rPr>
              <a:t>不在会上重开“要不要做”的讨论。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22E528-0C30-4AFD-9C2A-D5C1C5DF8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1914525"/>
            <a:ext cx="9525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议程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FAD58D-1F21-45AE-8749-F8E76DB6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362200"/>
            <a:ext cx="7048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010FF7-E5BE-47B0-AC77-7E7B7FE56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419350"/>
            <a:ext cx="5143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15 min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F96501-9C17-4DE2-8E79-FAE695C55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409825"/>
            <a:ext cx="403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主线与三场景范围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4F2069-3FB4-47C5-A1D7-ACA7807E1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867025"/>
            <a:ext cx="5219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811774-31C0-4782-942E-8441B0418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095625"/>
            <a:ext cx="7048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4D9B28-D492-4A3E-A098-82A2FD4BA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152775"/>
            <a:ext cx="5143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25 min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5DF67C-7E97-45A6-805F-ED645172D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143250"/>
            <a:ext cx="403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交易底座与履约责任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7F9FEC-DDA3-4F18-87D2-4740B1C95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600450"/>
            <a:ext cx="5219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996985-3B59-4D79-8184-04F496C48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829050"/>
            <a:ext cx="7048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D05BC59-B819-4492-A7E4-AE0A118E1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886200"/>
            <a:ext cx="5143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20 min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6D0F39-059D-4D56-BE67-350C38608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876675"/>
            <a:ext cx="403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收益、优惠与退款回退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8F2BC4-C1D5-4D93-A8E2-1C4771049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4333875"/>
            <a:ext cx="5219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49EB4A-6AC6-43BB-8725-1B38D4F12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4562475"/>
            <a:ext cx="7048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8C11CC-9A52-447C-8A3B-003E89DAE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619625"/>
            <a:ext cx="5143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30 min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45799C-134A-4720-9211-02EA081A0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610100"/>
            <a:ext cx="403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研发/运营/支付/合规输出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A9CD8DC-BE2E-45A1-8625-224DF1474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5181600"/>
            <a:ext cx="52197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87A1E63-6A2C-48FE-8AA8-D24EB74E7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5343525"/>
            <a:ext cx="48768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在场角色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5220EFD-0D4F-44B5-B531-7E5B525CE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5657850"/>
            <a:ext cx="4876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产品负责人主讲；开发、运营、支付/财务与合规领取前置产出。</a:t>
            </a:r>
          </a:p>
        </p:txBody>
      </p:sp>
    </p:spTree>
    <p:extLst>
      <p:ext uri="{BB962C8B-B14F-4D97-AF65-F5344CB8AC3E}">
        <p14:creationId xmlns:p14="http://schemas.microsoft.com/office/powerpoint/2010/main" val="11816549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65B145-F384-4844-A8A2-503F1EBDD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F01F57-867A-49D4-BC4D-B301B5652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95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02 / 已有基础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81C111-30AC-48AC-A32C-197F09B95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57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活动交易说明有履约基础，但不能替代新场景验证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FA909D-E72F-4FA2-952D-216930BBC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43000"/>
            <a:ext cx="10668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现有数据用于确认基座与风险，不用于宣称帮卖、电商或服务 ROI 已成立。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9D3A83-724F-4B40-8184-508BE92C4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solidFill>
              <a:srgbClr val="DDDD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4DF406-8128-4BC2-930E-9C69A9F3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53200"/>
            <a:ext cx="4953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和趣 | 社群店铺三场景产品蓝图同步会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3FEE7A-F631-4E37-974F-78B89132F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19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3AAD06-6E80-4FED-90D2-BC9795F58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76450"/>
            <a:ext cx="24003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325C09-D729-41B8-887B-BAEE20905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76475"/>
            <a:ext cx="2019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活动场次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779A18-C54B-441B-8E6B-BB485B9E1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20193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5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227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2FE95B-2053-4375-971E-343D49CF0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71825"/>
            <a:ext cx="20193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2025.04.30–2026.05.19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F01F95-3A77-472F-A42F-5F2E4B289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076450"/>
            <a:ext cx="24003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F7964D-4F46-4395-99DE-4E65A5B75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276475"/>
            <a:ext cx="2019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订单总数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0BA40-4686-4AEA-8895-36982C36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590800"/>
            <a:ext cx="20193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5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6,207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3DB27C-3F51-41BA-95D7-C64FF18AE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171825"/>
            <a:ext cx="20193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现有活动订单口径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64C248-3AD9-4351-833E-703868221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076450"/>
            <a:ext cx="24003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31AEF9-BA51-47DA-923B-3B31D1069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276475"/>
            <a:ext cx="2019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退款订单比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C91AF7-75F7-46DC-A36A-1A6C7316B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590800"/>
            <a:ext cx="20193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5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28.3%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9F2413-07E5-4609-A626-B219809BD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171825"/>
            <a:ext cx="20193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1,754 笔退款订单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CE9F0D-8EEF-4DF2-A288-F97EF4EC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76450"/>
            <a:ext cx="245745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725714-DB36-4B2E-BDBD-83F7EE560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276475"/>
            <a:ext cx="2076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实际收入字段合计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5BF99B-53AB-414E-AF9A-5B3469161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590800"/>
            <a:ext cx="20764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5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¥139,778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BB4439-6091-4C83-9DCF-2F42A336B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171825"/>
            <a:ext cx="20764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累计退款额 ¥77,579.90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9B7FC5-E47C-4CA0-A735-8E247964D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76700"/>
            <a:ext cx="11125200" cy="1552575"/>
          </a:xfrm>
          <a:prstGeom xmlns:a="http://schemas.openxmlformats.org/drawingml/2006/main" prst="roundRect">
            <a:avLst>
              <a:gd name="adj" fmla="val 4908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ACC0ED-CB57-47F9-8C25-2C3028778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14825"/>
            <a:ext cx="857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证据边界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A29634-E8E6-4169-B06A-241C6A388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57725"/>
            <a:ext cx="10058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这组数据不含团长归因、佣金、流量、转化成本或复购字段；不能证明一级帮卖 ROI，也不能证明电商与本地服务可直接规模化。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95A8FD-AEEC-4306-9D44-131E6E065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48275"/>
            <a:ext cx="10058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数据源：00-原始资料/和趣活动记录.xlsx；历史活动中仍存在退款额高于实际收入字段的风险样本。</a:t>
            </a:r>
          </a:p>
        </p:txBody>
      </p:sp>
    </p:spTree>
    <p:extLst>
      <p:ext uri="{BB962C8B-B14F-4D97-AF65-F5344CB8AC3E}">
        <p14:creationId xmlns:p14="http://schemas.microsoft.com/office/powerpoint/2010/main" val="200591497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08BB55-1281-4B8F-AC9D-491F3C2B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0AA68F-D136-4654-8013-D81F7DC18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95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03 / 产品主线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5745EC-2944-4ABC-AA75-4BACA40E0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57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主线必须围绕社群店铺闭环，而不是把功能堆成清单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6172AF-4CE9-47F5-951E-C6953598C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43000"/>
            <a:ext cx="10668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同一个平台小程序中，每个团长拥有专属主页、货架与归因路径。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852438-9C93-4D3E-90F0-CAA6751A3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solidFill>
              <a:srgbClr val="DDDD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46FB91-D436-4132-8016-FA35C7865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53200"/>
            <a:ext cx="4953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和趣 | 社群店铺三场景产品蓝图同步会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12DA9B-2FC3-42A7-84CC-1054F9A32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19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1F7487-6F16-401C-A484-EE48D8C05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76525"/>
            <a:ext cx="1381125" cy="1466850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E3450C-8325-428A-9661-F34277EE3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47975"/>
            <a:ext cx="4000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BCD22C-49C5-498B-80F2-047E2276F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05125"/>
            <a:ext cx="2095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158AF4-9DBC-4CB6-A36C-821E2DE41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1850"/>
            <a:ext cx="10668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注册社群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079CF0-6CDF-4ADF-B675-011357338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团长身份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A697D5-1C83-40F1-8DC5-0E9A0E44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267075"/>
            <a:ext cx="171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F00F99-E49F-4857-AF34-5372E6B0B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676525"/>
            <a:ext cx="1381125" cy="1466850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73C229-30B5-43A6-91C2-3883E3038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847975"/>
            <a:ext cx="4000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752AA5-FA33-4AF7-B7CC-EF6D0F2C1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905125"/>
            <a:ext cx="2095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9F3F76-4CC7-400C-BE27-C3B84B019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371850"/>
            <a:ext cx="10668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类型标签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ADD6FD-6935-4964-924C-58CF707D0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724275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模板依据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1018C0-6C6C-4E6E-831D-CC1AD566F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267075"/>
            <a:ext cx="171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A6A63B-ADBE-49E1-ABDA-53889CE60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676525"/>
            <a:ext cx="1381125" cy="1466850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0EBA4A-4946-4A0E-87DD-A115D8B87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847975"/>
            <a:ext cx="4000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199B8A-9CF1-4855-B5D9-F70E42ED0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905125"/>
            <a:ext cx="2095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71DAD7-12C2-412D-8F1E-45E929228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371850"/>
            <a:ext cx="10668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专属主页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66C9B0-7305-41FD-B721-40287BD22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24275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三类货架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BD7C84-CC1E-4279-A3D0-A846D0928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267075"/>
            <a:ext cx="171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CE84C59-082C-42D3-9753-6F7AFD130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676525"/>
            <a:ext cx="1381125" cy="1466850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D306AF-A6FA-4C38-9F8D-A1104BB56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847975"/>
            <a:ext cx="4000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8E0D8E-6E42-4D15-8102-4CED399A2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05125"/>
            <a:ext cx="2095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04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8769D9-EA8E-4073-9DAF-0F7D43E7D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371850"/>
            <a:ext cx="10668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审核货盘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A3217E-A057-49CE-9E6E-5154B3CF9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724275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发布/选卖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1B7D32-72D2-4056-8345-2ABCA0744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67075"/>
            <a:ext cx="171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3DFA97C-70C6-4AAF-98B7-D70D1AF8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76525"/>
            <a:ext cx="1381125" cy="1466850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A85EC8-7A2A-425D-987B-CA6DC57F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847975"/>
            <a:ext cx="4000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99BE53A-BC1A-4A6A-B57C-4B6CF1232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905125"/>
            <a:ext cx="2095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05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08777B5-F090-43F0-AB0E-9ED2A4CA8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371850"/>
            <a:ext cx="10668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分享成交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96A640C-FC8B-4544-AF64-808A56A51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724275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直接归因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83A640-3DB7-409F-B931-DE0F7B2C4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267075"/>
            <a:ext cx="171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0BD7032-C451-4166-8487-60EF00045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76525"/>
            <a:ext cx="1381125" cy="1466850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08736A3-EE81-4B82-893D-A87C2F186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847975"/>
            <a:ext cx="4000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B0D2B3D-CBBF-4306-A666-CED668157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905125"/>
            <a:ext cx="2095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06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55AA21C-30C5-48B7-A0E9-609862B9B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371850"/>
            <a:ext cx="10668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履约售后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AC2A0EB-8C05-4168-8072-6200C3EE8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724275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核销/退款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EDA8526-9FDD-457C-9948-D7F775B53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267075"/>
            <a:ext cx="171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F922110-B88C-4C42-95D0-B57A6E571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676525"/>
            <a:ext cx="1381125" cy="1466850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B5F4EBB-F766-4E26-8459-FF6757447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847975"/>
            <a:ext cx="4000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8A50A80-092D-4D41-82BC-ABA09D862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905125"/>
            <a:ext cx="2095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07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7B92385-2BD1-4090-B472-8DC86E562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371850"/>
            <a:ext cx="10668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收益经营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2DD68DF-DE32-4AB3-99E9-32A1F4F63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724275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结算/复购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079965C-CD3C-4285-B3C3-5203A5EAD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52975"/>
            <a:ext cx="111252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C29CC4C-4D05-44F0-80EB-250C3C9B3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19675"/>
            <a:ext cx="10458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首发交易闭环 = 统一供给对象 + 多履约订单 + 一级收益账本 + 售后/退款可回退</a:t>
            </a:r>
          </a:p>
        </p:txBody>
      </p:sp>
    </p:spTree>
    <p:extLst>
      <p:ext uri="{BB962C8B-B14F-4D97-AF65-F5344CB8AC3E}">
        <p14:creationId xmlns:p14="http://schemas.microsoft.com/office/powerpoint/2010/main" val="204244123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84EE0F-6AFA-4C9D-B806-AD480B581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68CCB3-0F41-4133-ADD2-7989CDF84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95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04 / 社群建店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19FC42-5EAF-493A-AA51-DCA35DF74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57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团长先获得适配社群的主页，再选择可经营供给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E42DD9-C9D2-48C9-955B-67C972010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solidFill>
              <a:srgbClr val="DDDDD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92C506-CB96-43F5-9528-A02835C8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53200"/>
            <a:ext cx="4953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和趣 | 社群店铺三场景产品蓝图同步会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B0D9CD-8EA2-48C3-871A-826213904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19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C4AE4A-0EEB-4B1C-B747-CDB276766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57375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建店规则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00268F-5E1B-4D80-A672-E88D63F9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38375"/>
            <a:ext cx="5143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6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一个主类型决定首页模板；多个兴趣标签影响推荐货架与素材提示。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F210FF-AC6F-4E92-B121-22DF422C0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00400"/>
            <a:ext cx="4552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B0FF2C-2506-434A-8754-9C092F673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62325"/>
            <a:ext cx="4210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主类型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D0D351-9E9B-4086-8C8C-5BBFA3CDC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76650"/>
            <a:ext cx="4210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亲子家庭 / 青年兴趣 / 创业交流等，用于主页结构。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1EEE78-C5D5-4E47-B928-BF895862D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43375"/>
            <a:ext cx="4552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9A17FF-FB0A-4D78-9935-965C8D678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05300"/>
            <a:ext cx="4210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兴趣标签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85EEF3-B060-4F37-9B57-14814EF6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19625"/>
            <a:ext cx="4210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运动体验、亲子配套等，仅影响推荐，不自动上架。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CB3DAA-3642-41E3-8461-43DCBD656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53025"/>
            <a:ext cx="4552950" cy="447675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28D57D-7933-4F06-8F71-E8B57B43C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95900"/>
            <a:ext cx="409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首发不做：自动选货、自动发布营销内容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8A08F5-4820-451B-B584-E3A9CB39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1743075"/>
            <a:ext cx="2419350" cy="4286250"/>
          </a:xfrm>
          <a:prstGeom xmlns:a="http://schemas.openxmlformats.org/drawingml/2006/main" prst="roundRect">
            <a:avLst>
              <a:gd name="adj" fmla="val 3150"/>
            </a:avLst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F16589-E981-4AEA-B626-11627045B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1819275"/>
            <a:ext cx="2266950" cy="41338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3ABD3E-75B5-436F-A196-833C59C4A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876425"/>
            <a:ext cx="723900" cy="1047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9B9785-AB7B-465D-AD8C-7E76C9B0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143125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和趣社群店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8D456D-97AF-4298-A3C5-1186B0DA3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143125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...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D074A1-EFCC-40A0-AE8E-92C3C75B7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2524125"/>
            <a:ext cx="6858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5A969C-0516-4071-81B0-DA378D775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581275"/>
            <a:ext cx="4953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社群建店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30C0D8-5174-4B82-B68B-79666D17C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2943225"/>
            <a:ext cx="1714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选择社群主类型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3AD55B-4441-42F6-883C-B38290F41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3276600"/>
            <a:ext cx="188595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365180-AA4B-4533-84CE-2280167BA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3362325"/>
            <a:ext cx="1476375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亲子家庭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A64DD7-A879-43C0-8344-61A95F4DA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3676650"/>
            <a:ext cx="188595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639493-FB95-43D5-9CCD-4899B06CB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3762375"/>
            <a:ext cx="1476375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青年兴趣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47AAA1-61FA-402C-A9CA-19EF6A9A2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4076700"/>
            <a:ext cx="188595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5207074-402B-4878-860E-5C9B904C2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162425"/>
            <a:ext cx="1476375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0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创业交流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DA6422-8EAB-4B1E-B4FD-6773B1C86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4629150"/>
            <a:ext cx="17621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兴趣标签影响推荐货架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6B53CF-A29D-420D-B58E-6C9E286B1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4933950"/>
            <a:ext cx="800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7AD51E6-ED54-452B-BB25-F8CBC2E4C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991100"/>
            <a:ext cx="6096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#运动体验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7F0AD00-712C-4AE4-8B0D-C5DD9A2C4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4933950"/>
            <a:ext cx="8382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697DE44-5390-4DEE-9A44-D1F404300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4991100"/>
            <a:ext cx="6477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#亲子配套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236369F-A5CF-48CC-9CCE-FB87A42D1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5419725"/>
            <a:ext cx="18859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38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C1AF375-5F37-448E-A33D-3327A74C5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5514975"/>
            <a:ext cx="12858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生成专属社群主页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BC16B1B-EADE-4734-A194-E1C0A0065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6143625"/>
            <a:ext cx="29908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DEDC7B0-F03F-4F23-A629-A8FF9F4AF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6200775"/>
            <a:ext cx="28003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当前可点击原型 · 社群建店状态重绘</a:t>
            </a:r>
          </a:p>
        </p:txBody>
      </p:sp>
    </p:spTree>
    <p:extLst>
      <p:ext uri="{BB962C8B-B14F-4D97-AF65-F5344CB8AC3E}">
        <p14:creationId xmlns:p14="http://schemas.microsoft.com/office/powerpoint/2010/main" val="47232976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7337E4B-504A-4C3C-B2A2-7476BD9D6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3498AE-5AA8-4ACB-AAAB-D5B2BAE7D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95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05 / 首发场景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97EFFB-371C-48AB-BFE4-59B0436D6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57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三场景同时规划首发入口，但只开放低风险白名单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6F9717-95E8-4358-8A77-8CB10A194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solidFill>
              <a:srgbClr val="DDDDD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D227ED-14EE-499B-BB0B-C0DB11E1F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53200"/>
            <a:ext cx="4953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和趣 | 社群店铺三场景产品蓝图同步会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297EC6-4C21-4537-B1F6-6E29A1AC4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19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95EFF9-B1DB-47D4-82E4-119A410A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33575"/>
            <a:ext cx="3429000" cy="367665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12ED1D-7506-4C5A-ADB1-976989521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43125"/>
            <a:ext cx="8953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27794C-24E4-4CA5-8576-62DA72F0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0275"/>
            <a:ext cx="7048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活动变现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84AA7E-ADFD-43AF-805A-C8451862B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67000"/>
            <a:ext cx="28194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4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标准票务/体验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3FDB5D-E653-4551-99E3-FE1D0BF1E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9925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履约方式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DE3019-E4FE-43FE-BCDF-E663D8785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76625"/>
            <a:ext cx="2933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场次 · 票种 · 核销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CA8D9A-79F1-4ED8-8AC0-88C143DC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首发供给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1C13F1-1E0A-4E40-AD55-DD6FFF585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48150"/>
            <a:ext cx="29241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亲子、青年兴趣、创业交流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F05FCC-8144-48D0-AD52-13917D821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14900"/>
            <a:ext cx="3009900" cy="485775"/>
          </a:xfrm>
          <a:prstGeom xmlns:a="http://schemas.openxmlformats.org/drawingml/2006/main" prst="roundRect">
            <a:avLst>
              <a:gd name="adj" fmla="val 156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07A7C7-9D4C-4371-A57C-8A707F4CF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86350"/>
            <a:ext cx="2762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暂不开放  高风险户外 / 强效果承诺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752896-5449-4DD2-AFF1-FDEB3ADDB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933575"/>
            <a:ext cx="3429000" cy="367665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A1F9BE-1CE2-4810-8E4F-F62C8D08F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43125"/>
            <a:ext cx="8953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7CEDD6-76B0-4CDA-A409-C40E3758F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00275"/>
            <a:ext cx="7048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电商变现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E20F90-43D5-4AFD-9441-51CEECF5B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667000"/>
            <a:ext cx="28194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4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标准商品/权益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5AAC11-A3FB-4854-92D8-C5809CAB5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209925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履约方式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02410C-A2D7-4B30-B77D-2F0177DDF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476625"/>
            <a:ext cx="2933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物流 · 自提 · 虚拟权益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78B3AE-98EE-4C91-AD42-B5EF7CC04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98145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首发供给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8659AF-D48F-4495-8027-A2B297C08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48150"/>
            <a:ext cx="29241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审核商品与券包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4BDB5B-7956-44F0-8321-F8DFFD42D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914900"/>
            <a:ext cx="3009900" cy="485775"/>
          </a:xfrm>
          <a:prstGeom xmlns:a="http://schemas.openxmlformats.org/drawingml/2006/main" prst="roundRect">
            <a:avLst>
              <a:gd name="adj" fmla="val 156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69DA96-0C2E-4FA5-B9D6-DDECC3362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086350"/>
            <a:ext cx="2762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暂不开放  生鲜 / 医疗美容 / 难售后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3B6017-72A3-46FC-8713-994F93011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33575"/>
            <a:ext cx="3429000" cy="367665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D69B65-3401-4D58-BA00-31DF84008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143125"/>
            <a:ext cx="8953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BA069F7-D065-41B6-91F0-628498A28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00275"/>
            <a:ext cx="7048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本地服务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A1193A9-6C63-4062-8996-836D2809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667000"/>
            <a:ext cx="28194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4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到店预约核销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99D0D4-E9AC-4B0F-A027-76A7CD918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209925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履约方式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A3BEA03-6BC3-48CF-81CC-1B80708E5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76625"/>
            <a:ext cx="2933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门店 · 时段 · 服务规格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AEF810F-CC1A-4558-8A7B-D37B8BF0A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98145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首发供给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0E0CD50-6CB7-4BFD-A186-26B17E242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248150"/>
            <a:ext cx="29241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低风险体验服务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0AA0761-D342-49C3-9C0D-871D431DF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914900"/>
            <a:ext cx="3009900" cy="485775"/>
          </a:xfrm>
          <a:prstGeom xmlns:a="http://schemas.openxmlformats.org/drawingml/2006/main" prst="roundRect">
            <a:avLst>
              <a:gd name="adj" fmla="val 156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4FB0BBF-E830-4071-96C0-D7677739A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086350"/>
            <a:ext cx="2762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暂不开放  上门 / 医疗 / 高责任</a:t>
            </a:r>
          </a:p>
        </p:txBody>
      </p:sp>
    </p:spTree>
    <p:extLst>
      <p:ext uri="{BB962C8B-B14F-4D97-AF65-F5344CB8AC3E}">
        <p14:creationId xmlns:p14="http://schemas.microsoft.com/office/powerpoint/2010/main" val="92695517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C5C6C2-5B7D-4579-AC91-32B0EE9D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970229-EF23-4370-9879-6BEC74B6E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95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06 / 电商履约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D713A2-1AE9-4471-9DD7-BB6C7AE50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57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电商首发的复杂度来自三条交付链，而不是一个商品列表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885167-5073-4DFD-94AA-EC681BDA0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43000"/>
            <a:ext cx="10668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订单底座必须先支持多履约状态与各自的退款责任。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3B5821-4170-48E8-B1A8-E635ED2BA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solidFill>
              <a:srgbClr val="DDDD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C82EC0-44FD-4F58-AC2D-48656ADB1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53200"/>
            <a:ext cx="4953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和趣 | 社群店铺三场景产品蓝图同步会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11D9FE-A8C6-42DC-87F7-03F4FF0F6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19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2E4514-589D-4478-A43E-3048D1A43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76475"/>
            <a:ext cx="8953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C8137E-61B5-4410-B3BC-84B116A8E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33625"/>
            <a:ext cx="7048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LOGISTICS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3F0A85-11FA-496C-A712-4DD9ECBA7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276475"/>
            <a:ext cx="1190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物流商品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FB0246-FC1E-4660-BF34-94277D6EB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114550"/>
            <a:ext cx="14001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C73298-1450-4E56-B5CE-A2EACAC78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295525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库存确认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48DC75-D800-407C-9F0D-EB0EF172A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266950"/>
            <a:ext cx="2095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D41B77-C713-4E97-998E-924FEA11C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2114550"/>
            <a:ext cx="14001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208D6F-3048-470C-852A-DF2DF9B64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295525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发货/物流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CFB429-3BA8-41E1-980A-6456452F2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2266950"/>
            <a:ext cx="2095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E49B8D-1309-402C-9850-91028F709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2114550"/>
            <a:ext cx="14001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E39C80-A52D-4D74-9A1C-A492A7C2B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2295525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退货退款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16D995-28D6-4737-B352-F05FA4058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295525"/>
            <a:ext cx="2647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发布方负责发货与售后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D9B52D-379E-44B7-AB4C-9DB602496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81375"/>
            <a:ext cx="8953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716614-6FCB-4752-90D5-11FD037F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38525"/>
            <a:ext cx="7048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PICKUP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A44B7F-9D5E-4EF8-B1FB-22F0CB3E6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381375"/>
            <a:ext cx="1190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自提商品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7B8928-7F56-492C-B465-2B979D890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3219450"/>
            <a:ext cx="14001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34CDAD-E4DD-4918-92FC-AB61328EC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400425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锁定库存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69636F-29E5-48D6-8511-B33DF9458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3371850"/>
            <a:ext cx="2095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315824-C4BB-4143-8C82-06812FE7E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3219450"/>
            <a:ext cx="14001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D542A7-39CE-480F-8CFD-90BC79692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400425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提货核销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0C36DE-EE9B-4352-9FF4-FE854F6D7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3371850"/>
            <a:ext cx="2095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C979BC-CA9A-4CD2-A71A-74FF3BEA6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219450"/>
            <a:ext cx="14001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0844FB3-AEA6-4FC4-89E3-A71B10956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3400425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未提货退款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E38EED8-3C12-4E9C-B710-6F45705D5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00425"/>
            <a:ext cx="2647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门店或提货点负责交付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C271E76-7E76-40F4-BA19-886A273B1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86275"/>
            <a:ext cx="8953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C3CD455-7D1D-4C18-9DD4-3A926C329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43425"/>
            <a:ext cx="7048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VOUCHER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20AEA6-ED4A-492D-9278-5C78CD6B2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486275"/>
            <a:ext cx="1190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虚拟权益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C47C242-0C07-4DFD-B31F-4A0E7C50A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4324350"/>
            <a:ext cx="14001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D224792-54DC-4B46-ACE5-B07706C6E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505325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权益发放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FDA9FB2-96BB-437A-84C8-5C6EE85A3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4476750"/>
            <a:ext cx="2095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2B35EDD-A876-4FA7-864F-5D1F251F3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324350"/>
            <a:ext cx="14001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6BAAFF3-8477-4F0D-A28D-2A257F24A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05325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到店核销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0098F10-AE9B-43ED-A2BB-8E2547B70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476750"/>
            <a:ext cx="2095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F865E75-ED67-4716-B0F9-2AC17763E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4324350"/>
            <a:ext cx="14001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180D547-A6BB-4AEF-834D-12EAB1E2D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505325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未使用退款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3F0A4FB-B253-4160-9105-75EAA3D64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505325"/>
            <a:ext cx="2647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权益规则需前置披露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896177A-43DF-43A3-AAEF-36611D25A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91175"/>
            <a:ext cx="11125200" cy="428625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79BF0B8-00F4-4F6B-86E1-2BB05A44D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24525"/>
            <a:ext cx="1028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统一要求：交付状态、退款入口、责任披露均写入同一个订单与售后底座。</a:t>
            </a:r>
          </a:p>
        </p:txBody>
      </p:sp>
    </p:spTree>
    <p:extLst>
      <p:ext uri="{BB962C8B-B14F-4D97-AF65-F5344CB8AC3E}">
        <p14:creationId xmlns:p14="http://schemas.microsoft.com/office/powerpoint/2010/main" val="58681397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EE6B4F-85BF-4D1B-BDB5-9AFBCD34E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9AA464-88B5-4097-B7F9-7B1A2CF8F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95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07 / 服务边界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64A2AA-1C70-43A2-A0F1-601F7B6B8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57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本地服务只从到店预约核销切入，避免过早承担高风险履约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6C790E-8996-4B0A-ACE5-8A4DF3B41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solidFill>
              <a:srgbClr val="DDDDD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9471DC-AECE-40DB-9CC5-53063DBF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53200"/>
            <a:ext cx="4953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和趣 | 社群店铺三场景产品蓝图同步会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8089EB-ED09-4DAE-82A4-0BDFDE691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19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55EE9A-306B-407E-9284-09FFB6FA2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6572250" cy="2895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C6BD50-EDEB-4E59-88F3-AB72D425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33625"/>
            <a:ext cx="1190625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811A2D-F6D7-49A9-AF73-7FF58C972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390775"/>
            <a:ext cx="1000125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STORE_BOOKING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5FACC5-BE5A-4D9C-8F34-9F4A744FA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48000"/>
            <a:ext cx="1238250" cy="885825"/>
          </a:xfrm>
          <a:prstGeom xmlns:a="http://schemas.openxmlformats.org/drawingml/2006/main" prst="roundRect">
            <a:avLst>
              <a:gd name="adj" fmla="val 86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868FD3-06FA-4D8A-A854-ED86D51A7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257550"/>
            <a:ext cx="971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消费者下单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22ED74-B920-4CBD-8022-00A8F1B00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552825"/>
            <a:ext cx="97155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选门店/时段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BD6065-28D5-4A01-B517-F40907DB5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343275"/>
            <a:ext cx="152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EF7755-28BD-46C3-862D-38149B339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048000"/>
            <a:ext cx="1238250" cy="885825"/>
          </a:xfrm>
          <a:prstGeom xmlns:a="http://schemas.openxmlformats.org/drawingml/2006/main" prst="roundRect">
            <a:avLst>
              <a:gd name="adj" fmla="val 86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96533D-7B96-49DF-A88C-08AACCF10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257550"/>
            <a:ext cx="971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发布方接单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3CC76D-45A4-4916-88F6-DBB17B36D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552825"/>
            <a:ext cx="97155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确认可履约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2B207B-9F8E-457C-A0A5-3425C0030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343275"/>
            <a:ext cx="152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7B9A55-9E9A-45DB-8DC3-C8B37EF2A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3048000"/>
            <a:ext cx="1238250" cy="885825"/>
          </a:xfrm>
          <a:prstGeom xmlns:a="http://schemas.openxmlformats.org/drawingml/2006/main" prst="roundRect">
            <a:avLst>
              <a:gd name="adj" fmla="val 86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B6EA9D-8AEF-4364-AE9E-D7F2359B9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3257550"/>
            <a:ext cx="971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到店核销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091847-508C-4D13-ABDD-E56E9F11D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3552825"/>
            <a:ext cx="97155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完成交付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6EE9C5-AA85-4A86-A7B5-E853A82E5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343275"/>
            <a:ext cx="152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CEEAF9-252B-451C-80C8-198D3C0B6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3048000"/>
            <a:ext cx="1238250" cy="885825"/>
          </a:xfrm>
          <a:prstGeom xmlns:a="http://schemas.openxmlformats.org/drawingml/2006/main" prst="roundRect">
            <a:avLst>
              <a:gd name="adj" fmla="val 86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2BBF48-88F1-43BF-9B73-316693BFF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3257550"/>
            <a:ext cx="971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争议处理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F4A462-6714-4152-8079-DCDDCD320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3552825"/>
            <a:ext cx="97155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取消/投诉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3A34A8-908D-474C-B68D-CEE81E278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391025"/>
            <a:ext cx="57435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发布供给团长对门店服务履约与披露负责；平台提供审核、订单与争议入口。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EBD7F0-432F-46F4-9605-B970A69FE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2143125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明确不做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31C835-C241-4699-9585-149C7DB40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2505075"/>
            <a:ext cx="3476625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914D86A-958F-4642-B6C9-ADB629796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667000"/>
            <a:ext cx="3133725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上门服务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D0150F0-C689-4CD1-9DA5-7F75CCE74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981325"/>
            <a:ext cx="31337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责任半径与人身风险更高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E5A816B-1350-49BD-845C-CEE453B11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3371850"/>
            <a:ext cx="3476625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B45C86F-0BC1-4B36-AC84-91233876D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533775"/>
            <a:ext cx="3133725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医疗美容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D651800-1AB8-4D8A-91EF-4157BFB37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848100"/>
            <a:ext cx="31337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资质与效果责任复杂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16792F6-F79D-458A-84B7-776B0DBA6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4238625"/>
            <a:ext cx="3476625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F2627E8-A623-4E8B-80F8-A46C14A6F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400550"/>
            <a:ext cx="3133725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强效果承诺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C33422E-B388-48F6-A213-37FAD9D37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714875"/>
            <a:ext cx="31337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投诉与举证成本不可控</a:t>
            </a:r>
          </a:p>
        </p:txBody>
      </p:sp>
    </p:spTree>
    <p:extLst>
      <p:ext uri="{BB962C8B-B14F-4D97-AF65-F5344CB8AC3E}">
        <p14:creationId xmlns:p14="http://schemas.microsoft.com/office/powerpoint/2010/main" val="15339314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67BE2B-0711-48CB-AE15-7041B506B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B2993E-BC91-4933-9DF0-57F649758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95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08 / 供给连接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03C693-7A3F-4928-A963-37E4EB0E5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57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审核货盘把供给责任与社群信任连接起来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A88FBE-9663-4AC8-8AFE-11BBA590E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solidFill>
              <a:srgbClr val="DDDDD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49E43D-D7AA-45C8-A4A7-F0408BFFB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53200"/>
            <a:ext cx="4953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和趣 | 社群店铺三场景产品蓝图同步会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6AEB6C-9979-4D3C-B0D7-A5F18DAE1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19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43FCE4-3276-4679-9107-B33DED755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71675"/>
            <a:ext cx="1333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统一商品库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5CFFDF-AFDE-4CCE-BC75-818B28441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43175"/>
            <a:ext cx="409575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8C009C-DAF3-4FBE-AA78-E82E4CCC3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00325"/>
            <a:ext cx="219075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B61B9F-1944-4247-B817-4F089FD39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505075"/>
            <a:ext cx="12954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发布申请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030F9B-8001-4574-B19E-A527C4639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2533650"/>
            <a:ext cx="1790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类型/责任资料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018BBE-CB28-4BA2-9FCB-8DFEFB098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24175"/>
            <a:ext cx="190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8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FD8F18-55DC-4708-944C-6F708C0F8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09575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510077-946D-4A16-A598-D0D6A7F91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52800"/>
            <a:ext cx="219075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5F9C4F-0598-44C0-822A-8760B857E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257550"/>
            <a:ext cx="12954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平台审核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8202D9-1A1E-459F-B071-E9CD70FBF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3286125"/>
            <a:ext cx="1790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资质与规则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6D7757-7B8A-4009-AC66-725C8F605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76650"/>
            <a:ext cx="190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8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D97BD3-C093-4727-8DD5-E7D599978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48125"/>
            <a:ext cx="409575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4D896B-A16D-496E-B682-6A9B97D3B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05275"/>
            <a:ext cx="219075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BC42F4-B2E0-41ED-92F9-657AF5D6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10025"/>
            <a:ext cx="12954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开放推广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2E8CA4-3357-48CC-ACBD-358AD9E55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4038600"/>
            <a:ext cx="1790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固定佣金或加价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BBE4EE-890C-4C5D-8A04-60590A1DB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29125"/>
            <a:ext cx="190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8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676092-7E10-4330-BDC0-B7D407E0A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00600"/>
            <a:ext cx="409575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6C7704-BDFA-46E7-A071-E0C9DD602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57750"/>
            <a:ext cx="219075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04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F06C96-7492-4327-9DA8-79B043ECA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762500"/>
            <a:ext cx="12954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店铺选卖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8932DB-2603-47A5-A0C6-6221FF5B8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4791075"/>
            <a:ext cx="1790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团长确认上架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BCFDA3-726B-4C8C-B3CC-A81F86B64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29275"/>
            <a:ext cx="464820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20B787-4D1F-4A2B-A864-0CDE71409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43575"/>
            <a:ext cx="4238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未审核供给不能进入团长货架或分享链路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203BF3-C498-46EB-AC0F-C42309BC2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733550"/>
            <a:ext cx="2419350" cy="4286250"/>
          </a:xfrm>
          <a:prstGeom xmlns:a="http://schemas.openxmlformats.org/drawingml/2006/main" prst="roundRect">
            <a:avLst>
              <a:gd name="adj" fmla="val 3150"/>
            </a:avLst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A126DE-0F97-4F44-A34D-4132A055C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809750"/>
            <a:ext cx="2266950" cy="41338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6453714-41AA-4B17-8643-E055CBB3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1866900"/>
            <a:ext cx="723900" cy="1047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347E877-432C-4F21-9613-4CC715F96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13360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和趣社群店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102709E-FC2D-4831-8D58-8BFC41F01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13360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...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53E3F33-6276-4066-82C7-25E2118A2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514600"/>
            <a:ext cx="6858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3D36F7B-D97D-4FAC-A9E5-8577A043C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571750"/>
            <a:ext cx="4953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审核货盘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9ED221D-0C43-4D61-B052-262264383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933700"/>
            <a:ext cx="1714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可选卖供给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DD53F52-4626-4B24-857C-03A736F97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267075"/>
            <a:ext cx="18859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712A6F7-84EF-4283-B1E9-3672C1BCE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371850"/>
            <a:ext cx="1028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青年攀岩体验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9ACD12C-3135-4DB4-A54E-9C42586C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571875"/>
            <a:ext cx="1285875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活动 | 场次票种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5139DCF-77BA-4FAC-9B53-51B415B77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3381375"/>
            <a:ext cx="400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6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可推广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C09343B-AB2B-4566-847A-EB13C4321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933825"/>
            <a:ext cx="18859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6C9E34F-F7E4-47A8-B40E-89F66EC3E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038600"/>
            <a:ext cx="1028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城市咖啡券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DD20299-127C-4780-AB69-1BDF5DA9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238625"/>
            <a:ext cx="1285875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电商 | 虚拟权益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B5719EB-1A89-4541-9C36-D2F87849E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4048125"/>
            <a:ext cx="400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6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可推广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646C471-D1A9-4793-90FE-5599C86CE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600575"/>
            <a:ext cx="18859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2E60FAA-37D6-4AB1-8C29-6B57E008B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705350"/>
            <a:ext cx="1028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摄影预约体验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F81029C-47BB-426D-8B31-842915BB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905375"/>
            <a:ext cx="1285875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服务 | 到店核销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19D34DE-4607-43B2-8271-7C60AAD7F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4714875"/>
            <a:ext cx="400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67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可推广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B67D96E-6039-4ED6-ADBA-1E584B74C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5381625"/>
            <a:ext cx="18954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上线前：资质、规则、责任审核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AD900BF-5B52-4CBC-BF2A-83EE6D9C2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6143625"/>
            <a:ext cx="3000375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B947459-641C-45CC-9577-F7827A155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6200775"/>
            <a:ext cx="2809875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当前可点击原型 · 审核货盘状态重绘</a:t>
            </a:r>
          </a:p>
        </p:txBody>
      </p:sp>
    </p:spTree>
    <p:extLst>
      <p:ext uri="{BB962C8B-B14F-4D97-AF65-F5344CB8AC3E}">
        <p14:creationId xmlns:p14="http://schemas.microsoft.com/office/powerpoint/2010/main" val="89616962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AA29F6C-7AB9-44D4-9A9A-E56232359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900862-C5E4-4181-847C-7D9979DAC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95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09 / 增长规则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5619E9-DBAB-429B-AFC9-78782DDA4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57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首发营销只做可结算的一级收益与优惠规则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AA29A6-1C78-4088-9584-B27D3C37E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solidFill>
              <a:srgbClr val="DDDDD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3853B7-18DB-42AF-BD59-D5658FB64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53200"/>
            <a:ext cx="4953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和趣 | 社群店铺三场景产品蓝图同步会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E705B2-B527-4BE6-B8EA-33CA387A7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19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034105-B304-42EE-B6FB-3FAE37509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1695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每个供给二选一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B1AF9A-246C-408D-B1E9-A41BED6D1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95525"/>
            <a:ext cx="4286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7FF730-950F-43D4-B7ED-A6827608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39433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固定佣金分享赚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C235B6-9BA6-4383-9BE5-CB1C9AB4D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71775"/>
            <a:ext cx="3943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价格统一；发布方预设佣金，适合标准活动与统一定价商品。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FC98FE-35C6-421D-AC82-184ABC24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19475"/>
            <a:ext cx="4286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A86830-5DD8-4A93-960F-03E5E6A1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81400"/>
            <a:ext cx="39433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加价帮卖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514A15-36F1-497C-BA4A-5EA2D4FDA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95725"/>
            <a:ext cx="3943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发布方设底价；推广方设置终端价，平台费后形成收益。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2F82B9-8249-4753-B243-AB321CFCA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29150"/>
            <a:ext cx="428625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0ED426-A45F-46BC-AE3D-1518C8C9C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810125"/>
            <a:ext cx="85725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5C9D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F5C9D0"/>
                </a:solidFill>
                <a:latin typeface="Microsoft YaHei UI"/>
                <a:ea typeface="Microsoft YaHei UI"/>
                <a:cs typeface="Microsoft YaHei UI"/>
              </a:rPr>
              <a:t>共同限制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11CFD7-88E8-4FE3-A766-B3C9AF8CF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095875"/>
            <a:ext cx="3771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一笔订单仅一个直接推广团长</a:t>
            </a:r>
          </a:p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优惠券不得侵蚀发布方底价或形成负收益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0D3B20-92B3-4928-9106-F2D4D0CD8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733550"/>
            <a:ext cx="2419350" cy="4286250"/>
          </a:xfrm>
          <a:prstGeom xmlns:a="http://schemas.openxmlformats.org/drawingml/2006/main" prst="roundRect">
            <a:avLst>
              <a:gd name="adj" fmla="val 3150"/>
            </a:avLst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688867-459C-4751-ACE6-2F1FAC43D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1809750"/>
            <a:ext cx="2266950" cy="41338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A62B1E-3576-4CA4-A7E9-68FB5A44A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66900"/>
            <a:ext cx="723900" cy="1047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5F3D5C-CC5D-4E7C-8AFD-AA5F44420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213360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和趣社群店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1C7079-7862-4BCF-9393-E453F9434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13360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...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96094E-828A-4CD6-9A34-741390857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514600"/>
            <a:ext cx="7810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AC5DA1-1D6C-46BC-A97F-D368631AF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571750"/>
            <a:ext cx="5905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推广促销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5FD049-DBA6-4042-9018-07B004501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933700"/>
            <a:ext cx="1714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城市咖啡体验券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87AA8D-7355-4983-AFC1-E4E6BB668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267075"/>
            <a:ext cx="18859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40A8CA-6E52-41DB-AB22-367DFAD46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3400425"/>
            <a:ext cx="16573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加价帮卖  |  底价 ¥59  售价 ¥79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1CC8EB-16DF-4DFD-B21E-706BD728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952875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预计推广收益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45E5BAF-4E56-465B-A5D1-76F80DCB2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200525"/>
            <a:ext cx="1047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9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¥14.50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224D98-3084-4393-A447-656BCB0A1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600575"/>
            <a:ext cx="1571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平台费与优惠已扣除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3DFE39-8AF8-4083-ADC7-9A905AD59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972050"/>
            <a:ext cx="18859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39758DE-C227-4EFC-9727-318534C57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5086350"/>
            <a:ext cx="1638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优惠券：¥5 由推广方承担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3836BF0-EC91-4EFB-9080-5B591B060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5543550"/>
            <a:ext cx="1885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一笔订单仅记录一个推广团长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E6A64B0-C361-4EB2-AC52-9A3C2B4B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6143625"/>
            <a:ext cx="32194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1BBFB19-3345-4D4B-B020-9EA177146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6200775"/>
            <a:ext cx="30289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当前可点击原型 · 推广促销状态重绘</a:t>
            </a:r>
          </a:p>
        </p:txBody>
      </p:sp>
    </p:spTree>
    <p:extLst>
      <p:ext uri="{BB962C8B-B14F-4D97-AF65-F5344CB8AC3E}">
        <p14:creationId xmlns:p14="http://schemas.microsoft.com/office/powerpoint/2010/main" val="113591612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C2C1F88-D3E8-4CB1-A3B2-95F3C4000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7D9852-A7DB-460F-8A99-646EEC414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95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10 / 结算门槛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6E16D8-2EF1-4552-BD39-D296D9D9F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57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收益能力的门槛不是页面展示，而是退款与结算可以回退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7935A9-E099-4AA6-B185-5657CC259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solidFill>
              <a:srgbClr val="DDDDD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3F0030-EB90-4754-BCAB-96283FD3B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53200"/>
            <a:ext cx="4953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和趣 | 社群店铺三场景产品蓝图同步会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B9394B-872F-4EA2-A1BF-36A0848E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19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FD0DC5-0300-4B8B-83AC-3DA29884D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57400"/>
            <a:ext cx="34290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67C797-D86E-46AB-ABEC-7130351CF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57425"/>
            <a:ext cx="847725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23A448-065F-4EA7-AD48-D8E8C1363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314575"/>
            <a:ext cx="657225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自售订单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345153-946C-4FAD-92CD-BB190C20F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52725"/>
            <a:ext cx="3028950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实付 - 平台服务费 - 发布方优惠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48868D-56E2-495B-937F-350E066F6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276600"/>
            <a:ext cx="3028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得到：发布方结算额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E6A69F-8F71-4284-A896-9DE1DBAE1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57400"/>
            <a:ext cx="34290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0EE6DF-D107-4E08-A31C-08BFD162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257425"/>
            <a:ext cx="847725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B2B45D-B34E-4DA1-96EA-F6DB5EA95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314575"/>
            <a:ext cx="657225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固定佣金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6C4E89-01B0-4ABC-9A7A-84423790C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752725"/>
            <a:ext cx="3028950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实付 - 平台费 - 推广佣金 - 优惠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A11666-0CA8-466C-BD34-028EFA099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276600"/>
            <a:ext cx="3028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得到：发布方 + 推广方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7D69EC-EEF0-4AEA-9B5A-146AF2862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57400"/>
            <a:ext cx="34290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C87F5D-2B08-4824-97B6-18698B713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257425"/>
            <a:ext cx="847725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4968CF-9C5C-4337-A253-771EFA711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314575"/>
            <a:ext cx="657225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加价帮卖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CA90A2-26C5-449F-96E1-B3F458477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752725"/>
            <a:ext cx="3028950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实付 - 底价 - 平台费 - 推广方优惠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854B99-B4A0-4DA0-8710-F987B5634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276600"/>
            <a:ext cx="3028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得到：推广收益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C0F5B9-71F4-4CBF-A44B-CA40D80E9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19550"/>
            <a:ext cx="7153275" cy="1304925"/>
          </a:xfrm>
          <a:prstGeom xmlns:a="http://schemas.openxmlformats.org/drawingml/2006/main" prst="roundRect">
            <a:avLst>
              <a:gd name="adj" fmla="val 5839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D747FC9-9896-4D17-AE01-675CA80A3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48150"/>
            <a:ext cx="11811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退款冲回规则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3AE59D-38A8-421F-9800-1973D54C6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619625"/>
            <a:ext cx="6572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全额退款：平台费、发布方金额与推广收益全部取消或回退。</a:t>
            </a:r>
          </a:p>
          <a:p xmlns:a="http://schemas.openxmlformats.org/drawingml/2006/main">
            <a:pPr algn="l">
              <a:def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部分退款：收益与已分摊优惠按退款比例冲回。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0931E1-9107-4B06-AECE-2E669DC39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19550"/>
            <a:ext cx="3638550" cy="1304925"/>
          </a:xfrm>
          <a:prstGeom xmlns:a="http://schemas.openxmlformats.org/drawingml/2006/main" prst="roundRect">
            <a:avLst>
              <a:gd name="adj" fmla="val 5839"/>
            </a:avLst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53D035-95BE-4FF7-830E-345D32295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248150"/>
            <a:ext cx="9525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C9D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5C9D0"/>
                </a:solidFill>
                <a:latin typeface="Microsoft YaHei UI"/>
                <a:ea typeface="Microsoft YaHei UI"/>
                <a:cs typeface="Microsoft YaHei UI"/>
              </a:rPr>
              <a:t>上线闸门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13819A-D84A-447B-B238-FCDEBB558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629150"/>
            <a:ext cx="3086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自动结算仅为目标能力</a:t>
            </a:r>
          </a:p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须先核验支付与退款回退链路</a:t>
            </a:r>
          </a:p>
        </p:txBody>
      </p:sp>
    </p:spTree>
    <p:extLst>
      <p:ext uri="{BB962C8B-B14F-4D97-AF65-F5344CB8AC3E}">
        <p14:creationId xmlns:p14="http://schemas.microsoft.com/office/powerpoint/2010/main" val="26144238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7BBCDFC-8445-4225-94A3-A9EDDC57A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32EF53-1CCC-49F3-AEB2-3D612AF52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95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11 / 阶段路线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A99831-81F0-4704-98F1-D8D1794E9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57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首发底座先建交易闭环，营销放大能力后置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D0B57B-51B2-4CD6-B0E7-6F4F33D68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solidFill>
              <a:srgbClr val="DDDDD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B81602-F7AD-45B2-8B94-219AF01E0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53200"/>
            <a:ext cx="4953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和趣 | 社群店铺三场景产品蓝图同步会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31D00E-870A-46A3-9E51-E3F7831DE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19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E1F954-1543-4E74-BE6A-85FE3DE1C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66950"/>
            <a:ext cx="2533650" cy="2581275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CD17A0-2E4D-4BCB-BAD0-847EF8A08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76500"/>
            <a:ext cx="6858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5ACA26-31D9-40D1-B492-98544CA0E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4953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阶段 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1C3BAE-3F32-41B0-BFE5-A4DFAA8E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0375"/>
            <a:ext cx="1962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规格固化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32F8C9-CE22-4F69-893B-D20581F08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52825"/>
            <a:ext cx="2000250" cy="657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社群、货盘、履约、收益与售后对象定稿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9E59CA-B486-4B01-93D2-DA8FB16A9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5524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9C49EA-E41F-4D7C-A375-949A16832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57700"/>
            <a:ext cx="3619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当前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C57BC4-501C-4410-A619-FEBC10DF2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24225"/>
            <a:ext cx="19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4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630C4D-6E29-4034-8FEC-3DE9741CF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266950"/>
            <a:ext cx="2533650" cy="2581275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2F9875-6FB9-4972-8D06-BAB5C6100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476500"/>
            <a:ext cx="6858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EB0CCF-9D70-4F58-8970-C514E41D3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533650"/>
            <a:ext cx="4953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阶段 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DECD0F-6636-445B-8BC0-0FCC66A3D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000375"/>
            <a:ext cx="1962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底座预开发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2739E0-86A7-4A1F-997E-D0D0E1A84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552825"/>
            <a:ext cx="2000250" cy="657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统一订单、归因、审核、账本与退款接口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1ECA51-B2E7-4F6A-B524-7F87BF0DC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400550"/>
            <a:ext cx="5524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58F489-40BA-4411-AF8D-2F30F1E41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457700"/>
            <a:ext cx="3619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接续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627715-FE3E-46ED-B9FE-F97B8504E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324225"/>
            <a:ext cx="19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4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6E7462-C3CF-4DBA-9AD0-7EF96D933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66950"/>
            <a:ext cx="2533650" cy="2581275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90FA88-B772-4D43-A907-5660FA431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6858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81A73F-FE30-49FE-936F-551BF483B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33650"/>
            <a:ext cx="4953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阶段 C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6962C6-8A13-4E39-960A-E7D53638A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0375"/>
            <a:ext cx="1962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受控开放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8F6214-A503-413F-9418-8373C24C3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52825"/>
            <a:ext cx="2000250" cy="657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三场景低风险供给进入真实交易验证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B0A9A65-E38F-4DD5-BBA3-5F28416A0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00550"/>
            <a:ext cx="5524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64A3FF-1B27-4E13-972D-1FF97FB40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57700"/>
            <a:ext cx="3619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门槛后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1088AD-789C-44C8-8DDD-5E15FEFC3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324225"/>
            <a:ext cx="19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4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ECB25AD-1529-4B22-9B20-A7782C9AE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266950"/>
            <a:ext cx="2533650" cy="2581275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D13A7EE-1EB7-489E-9D1B-73BD92FF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476500"/>
            <a:ext cx="6858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FAE2BA3-8E25-4D31-A3D2-ADD86DC4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533650"/>
            <a:ext cx="4953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阶段 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3A7139A-5495-4B74-AD41-3D09ACE27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000375"/>
            <a:ext cx="1962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效率扩展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385E12E-0FD0-4A71-9145-8140214F8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552825"/>
            <a:ext cx="2000250" cy="657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AI 文案、群接龙依据订单数据另案验证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D07636A-4BD4-4800-AC10-E98ABD85D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400550"/>
            <a:ext cx="5524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F8ECB97-3681-4A50-808D-1915A2FC4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457700"/>
            <a:ext cx="3619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后续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A78EEFB-EBA4-43CA-A8F8-E6DA8BFA9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67325"/>
            <a:ext cx="11125200" cy="523875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17BB939-9475-4105-9CDE-4BEE8E05F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48300"/>
            <a:ext cx="1047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本轮明确后置：多级分销、上门服务、食品生鲜、广告变现、自动外部发布</a:t>
            </a:r>
          </a:p>
        </p:txBody>
      </p:sp>
    </p:spTree>
    <p:extLst>
      <p:ext uri="{BB962C8B-B14F-4D97-AF65-F5344CB8AC3E}">
        <p14:creationId xmlns:p14="http://schemas.microsoft.com/office/powerpoint/2010/main" val="152115640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D6FA67E-682E-422E-AA41-1E307C96A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78127F-A9F8-41E7-A5ED-8B59B67FC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95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12 / 会后输出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E1645A-DA85-4BA7-A7E4-C432BBB2A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57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会后每个团队都有明确输出，让方向进入可执行状态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068849-CB4C-41A7-8277-C6C46B09F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solidFill>
              <a:srgbClr val="DDDDD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CAEBB7-9878-468D-B379-06B2BD011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53200"/>
            <a:ext cx="4953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750" b="0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和趣 | 社群店铺三场景产品蓝图同步会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36C8BF-C703-48BE-90C7-44055BBF4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19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3ECC5D-E037-496D-BAA0-D27A01604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76450"/>
            <a:ext cx="25336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724FA1-A839-4491-9442-393DAC505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05050"/>
            <a:ext cx="7239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9019E3-7BDC-41C7-BBAF-4A7EA17E8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62200"/>
            <a:ext cx="5334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开发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5890FF-F773-48A6-9047-991309A64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95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预期交付物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64FF42-5C3D-4A8C-87A6-B01DC7A8C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20764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对象与接口拆解</a:t>
            </a:r>
          </a:p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多履约订单原型</a:t>
            </a:r>
          </a:p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收益/售后状态设计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8891AF-60CE-4B3F-BB34-E918F2A17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076450"/>
            <a:ext cx="25336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001753-EF5C-4B62-835B-9774639B4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305050"/>
            <a:ext cx="7239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F7337D-C653-4646-B10E-652CF9E91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362200"/>
            <a:ext cx="5334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运营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04DDF2-5201-466A-95AD-5E33EECEC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857500"/>
            <a:ext cx="95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预期交付物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E08D32-C6A4-419B-870B-2EF24AB58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257550"/>
            <a:ext cx="20764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白名单供给清单</a:t>
            </a:r>
          </a:p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目标团长摸排</a:t>
            </a:r>
          </a:p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责任资料模板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DA6A63-B6A1-4FAA-B759-195607898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76450"/>
            <a:ext cx="25336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450FE5-1539-45F4-B035-A930E40F0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05050"/>
            <a:ext cx="7239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1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108779-8F90-4BC4-B89E-91FE53469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62200"/>
            <a:ext cx="5334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FF385C"/>
                </a:solidFill>
                <a:latin typeface="Microsoft YaHei UI"/>
                <a:ea typeface="Microsoft YaHei UI"/>
                <a:cs typeface="Microsoft YaHei UI"/>
              </a:rPr>
              <a:t>支付/财务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24A4B9-4262-4A65-88F2-5E3576AF3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57500"/>
            <a:ext cx="95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预期交付物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CCEBDC-46BE-4000-9DEE-36A1CE49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57550"/>
            <a:ext cx="20764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现有支付链路复用</a:t>
            </a:r>
          </a:p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退款回退方式</a:t>
            </a:r>
          </a:p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结算口径核验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E044FC-BB26-421A-A830-E3AF2027C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076450"/>
            <a:ext cx="25336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14D7C8-5ECC-4398-B3E9-E32C3AD78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305050"/>
            <a:ext cx="7239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983C19-CB16-4CFC-80A7-CFA808B21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62200"/>
            <a:ext cx="5334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合规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4D7329-3712-4123-AFD9-B017E2110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857500"/>
            <a:ext cx="95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1">
                <a:solidFill>
                  <a:srgbClr val="6A6A6A"/>
                </a:solidFill>
                <a:latin typeface="Microsoft YaHei UI"/>
                <a:ea typeface="Microsoft YaHei UI"/>
                <a:cs typeface="Microsoft YaHei UI"/>
              </a:rPr>
              <a:t>预期交付物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726536-EA29-4200-A48E-2F0A989E1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257550"/>
            <a:ext cx="20764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平台规则审核</a:t>
            </a:r>
          </a:p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商户责任披露</a:t>
            </a:r>
          </a:p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222222"/>
                </a:solidFill>
                <a:latin typeface="Microsoft YaHei UI"/>
                <a:ea typeface="Microsoft YaHei UI"/>
                <a:cs typeface="Microsoft YaHei UI"/>
              </a:rPr>
              <a:t>争议路径核验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59C475-0514-42FC-8061-0966A1E84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05375"/>
            <a:ext cx="111252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1A98CBE-8BBC-408B-9487-9D1175300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24450"/>
            <a:ext cx="13525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C9D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00" b="1">
                <a:solidFill>
                  <a:srgbClr val="F5C9D0"/>
                </a:solidFill>
                <a:latin typeface="Microsoft YaHei UI"/>
                <a:ea typeface="Microsoft YaHei UI"/>
                <a:cs typeface="Microsoft YaHei UI"/>
              </a:rPr>
              <a:t>现场演示入口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7C607BA-FE40-44A9-8050-D89196F8C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67350"/>
            <a:ext cx="4714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03-演示界面/和趣项目会演示原型.html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4B190DE-5BF8-430C-A8DD-6CDDCF534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467350"/>
            <a:ext cx="502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演示重点：建店模板 → 审核货盘 → 推广促销 → 订单收益 → 可行性看板</a:t>
            </a:r>
          </a:p>
        </p:txBody>
      </p:sp>
    </p:spTree>
    <p:extLst>
      <p:ext uri="{BB962C8B-B14F-4D97-AF65-F5344CB8AC3E}">
        <p14:creationId xmlns:p14="http://schemas.microsoft.com/office/powerpoint/2010/main" val="204359123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2026-05-27T01:52:47.5870000Z</dcterms:created>
  <dcterms:modified xsi:type="dcterms:W3CDTF">2026-05-27T01:52:47.5870000Z</dcterms:modified>
</coreProperties>
</file>