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df59fdea104812" /><Relationship Type="http://schemas.openxmlformats.org/officeDocument/2006/relationships/extended-properties" Target="/docProps/app.xml" Id="R319344fe306e4c13" /><Relationship Type="http://schemas.openxmlformats.org/officeDocument/2006/relationships/officeDocument" Target="/ppt/presentation.xml" Id="R7575da608f334c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119625c8334a1c"/>
  </p:sldMasterIdLst>
  <p:notesMasterIdLst>
    <p:notesMasterId xmlns:r="http://schemas.openxmlformats.org/officeDocument/2006/relationships" r:id="Rddc8a08d35ef413f"/>
  </p:notesMasterIdLst>
  <p:sldIdLst>
    <p:sldId xmlns:r="http://schemas.openxmlformats.org/officeDocument/2006/relationships" id="256" r:id="Rc3e5692445554e40"/>
    <p:sldId xmlns:r="http://schemas.openxmlformats.org/officeDocument/2006/relationships" id="257" r:id="R501e44b9b2ca4c6f"/>
    <p:sldId xmlns:r="http://schemas.openxmlformats.org/officeDocument/2006/relationships" id="258" r:id="R340239a3addf4b5c"/>
    <p:sldId xmlns:r="http://schemas.openxmlformats.org/officeDocument/2006/relationships" id="259" r:id="R44307613589a4e3a"/>
    <p:sldId xmlns:r="http://schemas.openxmlformats.org/officeDocument/2006/relationships" id="260" r:id="R500192b3f4e84e71"/>
    <p:sldId xmlns:r="http://schemas.openxmlformats.org/officeDocument/2006/relationships" id="261" r:id="R69bc23df15364cec"/>
    <p:sldId xmlns:r="http://schemas.openxmlformats.org/officeDocument/2006/relationships" id="262" r:id="R2fc2be43b54344ec"/>
    <p:sldId xmlns:r="http://schemas.openxmlformats.org/officeDocument/2006/relationships" id="263" r:id="Rb0728344c5bf4df3"/>
    <p:sldId xmlns:r="http://schemas.openxmlformats.org/officeDocument/2006/relationships" id="264" r:id="R854b7e6520e74540"/>
    <p:sldId xmlns:r="http://schemas.openxmlformats.org/officeDocument/2006/relationships" id="265" r:id="Ra3ec4b0484974183"/>
    <p:sldId xmlns:r="http://schemas.openxmlformats.org/officeDocument/2006/relationships" id="266" r:id="R4e933afcb38f49cf"/>
    <p:sldId xmlns:r="http://schemas.openxmlformats.org/officeDocument/2006/relationships" id="267" r:id="R7cfa3bcd39d04276"/>
    <p:sldId xmlns:r="http://schemas.openxmlformats.org/officeDocument/2006/relationships" id="268" r:id="R940e64e674624fc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119625c8334a1c" /><Relationship Type="http://schemas.openxmlformats.org/officeDocument/2006/relationships/theme" Target="/ppt/theme/theme1.xml" Id="R4a11566f249843df" /><Relationship Type="http://schemas.openxmlformats.org/officeDocument/2006/relationships/notesMaster" Target="/ppt/notesMasters/notesMaster1.xml" Id="Rddc8a08d35ef413f" /><Relationship Type="http://schemas.openxmlformats.org/officeDocument/2006/relationships/presProps" Target="/ppt/presProps.xml" Id="R4b7dad3fed2f4ec8" /><Relationship Type="http://schemas.openxmlformats.org/officeDocument/2006/relationships/viewProps" Target="/ppt/viewProps.xml" Id="Rce100708e2a34365" /><Relationship Type="http://schemas.openxmlformats.org/officeDocument/2006/relationships/tableStyles" Target="/ppt/tableStyles.xml" Id="Rd264b27872ce4b97" /><Relationship Type="http://schemas.openxmlformats.org/officeDocument/2006/relationships/slide" Target="/ppt/slides/slide1.xml" Id="Rc3e5692445554e40" /><Relationship Type="http://schemas.openxmlformats.org/officeDocument/2006/relationships/slide" Target="/ppt/slides/slide2.xml" Id="R501e44b9b2ca4c6f" /><Relationship Type="http://schemas.openxmlformats.org/officeDocument/2006/relationships/slide" Target="/ppt/slides/slide3.xml" Id="R340239a3addf4b5c" /><Relationship Type="http://schemas.openxmlformats.org/officeDocument/2006/relationships/slide" Target="/ppt/slides/slide4.xml" Id="R44307613589a4e3a" /><Relationship Type="http://schemas.openxmlformats.org/officeDocument/2006/relationships/slide" Target="/ppt/slides/slide5.xml" Id="R500192b3f4e84e71" /><Relationship Type="http://schemas.openxmlformats.org/officeDocument/2006/relationships/slide" Target="/ppt/slides/slide6.xml" Id="R69bc23df15364cec" /><Relationship Type="http://schemas.openxmlformats.org/officeDocument/2006/relationships/slide" Target="/ppt/slides/slide7.xml" Id="R2fc2be43b54344ec" /><Relationship Type="http://schemas.openxmlformats.org/officeDocument/2006/relationships/slide" Target="/ppt/slides/slide8.xml" Id="Rb0728344c5bf4df3" /><Relationship Type="http://schemas.openxmlformats.org/officeDocument/2006/relationships/slide" Target="/ppt/slides/slide9.xml" Id="R854b7e6520e74540" /><Relationship Type="http://schemas.openxmlformats.org/officeDocument/2006/relationships/slide" Target="/ppt/slides/slide10.xml" Id="Ra3ec4b0484974183" /><Relationship Type="http://schemas.openxmlformats.org/officeDocument/2006/relationships/slide" Target="/ppt/slides/slide11.xml" Id="R4e933afcb38f49cf" /><Relationship Type="http://schemas.openxmlformats.org/officeDocument/2006/relationships/slide" Target="/ppt/slides/slide12.xml" Id="R7cfa3bcd39d04276" /><Relationship Type="http://schemas.openxmlformats.org/officeDocument/2006/relationships/slide" Target="/ppt/slides/slide13.xml" Id="R940e64e674624f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f91e4a54c644d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0c8f962d6a4b5d" /><Relationship Type="http://schemas.openxmlformats.org/officeDocument/2006/relationships/notesMaster" Target="/ppt/notesMasters/notesMaster1.xml" Id="R9b54373c399441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e7144a7bad4779" /><Relationship Type="http://schemas.openxmlformats.org/officeDocument/2006/relationships/notesMaster" Target="/ppt/notesMasters/notesMaster1.xml" Id="R1baaa52a5bb4435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1c0a3f938b4f78" /><Relationship Type="http://schemas.openxmlformats.org/officeDocument/2006/relationships/notesMaster" Target="/ppt/notesMasters/notesMaster1.xml" Id="R29c5b1c7092a40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b09c590a3c482e" /><Relationship Type="http://schemas.openxmlformats.org/officeDocument/2006/relationships/notesMaster" Target="/ppt/notesMasters/notesMaster1.xml" Id="Rde7ef858296b48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cb2a2350f24410" /><Relationship Type="http://schemas.openxmlformats.org/officeDocument/2006/relationships/notesMaster" Target="/ppt/notesMasters/notesMaster1.xml" Id="R8af3b3cadada47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cb1f0d61e404d68" /><Relationship Type="http://schemas.openxmlformats.org/officeDocument/2006/relationships/notesMaster" Target="/ppt/notesMasters/notesMaster1.xml" Id="Rf494a6d2106a42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11b5af04e64778" /><Relationship Type="http://schemas.openxmlformats.org/officeDocument/2006/relationships/notesMaster" Target="/ppt/notesMasters/notesMaster1.xml" Id="R04ead18cfbb04f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b612ad80d64cf0" /><Relationship Type="http://schemas.openxmlformats.org/officeDocument/2006/relationships/notesMaster" Target="/ppt/notesMasters/notesMaster1.xml" Id="R9240efff934e46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146f57a919a4f8f" /><Relationship Type="http://schemas.openxmlformats.org/officeDocument/2006/relationships/notesMaster" Target="/ppt/notesMasters/notesMaster1.xml" Id="R91bc8ec052f5442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3a454e20fe24031" /><Relationship Type="http://schemas.openxmlformats.org/officeDocument/2006/relationships/notesMaster" Target="/ppt/notesMasters/notesMaster1.xml" Id="R1c8360d9b6a04c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cb9e1d23bd5472d" /><Relationship Type="http://schemas.openxmlformats.org/officeDocument/2006/relationships/notesMaster" Target="/ppt/notesMasters/notesMaster1.xml" Id="Rf96fa056430b4e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4545ff195f24368" /><Relationship Type="http://schemas.openxmlformats.org/officeDocument/2006/relationships/notesMaster" Target="/ppt/notesMasters/notesMaster1.xml" Id="R5d28f3a518c744d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41c080700f2411f" /><Relationship Type="http://schemas.openxmlformats.org/officeDocument/2006/relationships/notesMaster" Target="/ppt/notesMasters/notesMaster1.xml" Id="R698d60cfd80b48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2f1c65cf73498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f8d7bcb648b4e40" /><Relationship Type="http://schemas.openxmlformats.org/officeDocument/2006/relationships/slideLayout" Target="/ppt/slideLayouts/slideLayout2.xml" Id="R3c7c527c071843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7c527c071843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522a40e4284bae" /><Relationship Type="http://schemas.openxmlformats.org/officeDocument/2006/relationships/notesSlide" Target="/ppt/notesSlides/notesSlide1.xml" Id="Rbcb196fabaa94c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726d6161fb4344" /><Relationship Type="http://schemas.openxmlformats.org/officeDocument/2006/relationships/notesSlide" Target="/ppt/notesSlides/notesSlide2.xml" Id="Rf5f977f1fbe345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55f3e3073940c6" /><Relationship Type="http://schemas.openxmlformats.org/officeDocument/2006/relationships/notesSlide" Target="/ppt/notesSlides/notesSlide3.xml" Id="R79c5845b2ea541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1ac5ea35a54620" /><Relationship Type="http://schemas.openxmlformats.org/officeDocument/2006/relationships/notesSlide" Target="/ppt/notesSlides/notesSlide4.xml" Id="R1524cc6cd3ec43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2a7e44cc7b404a" /><Relationship Type="http://schemas.openxmlformats.org/officeDocument/2006/relationships/notesSlide" Target="/ppt/notesSlides/notesSlide5.xml" Id="R51c8056f2e4a41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da81bfd2394ace" /><Relationship Type="http://schemas.openxmlformats.org/officeDocument/2006/relationships/notesSlide" Target="/ppt/notesSlides/notesSlide6.xml" Id="R22cd3ee230d84a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ea1a6c150d4317" /><Relationship Type="http://schemas.openxmlformats.org/officeDocument/2006/relationships/notesSlide" Target="/ppt/notesSlides/notesSlide7.xml" Id="R16ee80c9a04d474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a22f3a07554d2b" /><Relationship Type="http://schemas.openxmlformats.org/officeDocument/2006/relationships/notesSlide" Target="/ppt/notesSlides/notesSlide8.xml" Id="R8eb7c721709447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ee6a5f19384752" /><Relationship Type="http://schemas.openxmlformats.org/officeDocument/2006/relationships/notesSlide" Target="/ppt/notesSlides/notesSlide9.xml" Id="R878ea00b8c734a1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7e0749052a4ae6" /><Relationship Type="http://schemas.openxmlformats.org/officeDocument/2006/relationships/notesSlide" Target="/ppt/notesSlides/notesSlide10.xml" Id="Rc1562a1b2ba84dc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6294260b0b4471" /><Relationship Type="http://schemas.openxmlformats.org/officeDocument/2006/relationships/notesSlide" Target="/ppt/notesSlides/notesSlide11.xml" Id="R1ddeb9bc5cc240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9fc7767ca443b4" /><Relationship Type="http://schemas.openxmlformats.org/officeDocument/2006/relationships/notesSlide" Target="/ppt/notesSlides/notesSlide12.xml" Id="R9cd1eeac83ad41f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7a5a0f61594e2c" /><Relationship Type="http://schemas.openxmlformats.org/officeDocument/2006/relationships/notesSlide" Target="/ppt/notesSlides/notesSlide13.xml" Id="Re3ee30ef6d8e40d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236D4B-4D79-4BCF-B1A9-64E76FAC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F2FC5-CAAA-46B1-A9BA-C1D7419A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62897F-B891-4D53-AD16-04E5DCAB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400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385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385C"/>
                </a:solidFill>
                <a:latin typeface="Aptos Display"/>
                <a:ea typeface="Aptos Display"/>
                <a:cs typeface="Aptos Display"/>
              </a:rPr>
              <a:t>和趣社群店铺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7514D-8EE7-4D13-A4C2-AC6B149C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7810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三场景私域变现产品蓝图同步会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8F7B0F-0A9C-432F-9375-60C05088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从供给与分销，收敛到交易履约、售后退款和结算监督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230BD-6E95-4477-9AB0-7487CCC8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1714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0BAF91-E131-461D-86E4-73995BF0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90900"/>
            <a:ext cx="1447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活动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814A9-CB47-40B5-9F7C-78690CA1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4848"/>
                </a:solidFill>
                <a:latin typeface="Aptos"/>
                <a:ea typeface="Aptos"/>
                <a:cs typeface="Aptos"/>
              </a:rPr>
              <a:t>主验证场景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3D71AF-6283-4E52-AEFD-96F4C9E6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86200"/>
            <a:ext cx="1447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现有交易基础最接近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5D5716-4AA8-45D8-BBA0-E876FB43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57550"/>
            <a:ext cx="1714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E200EB-0D3E-4C67-82DA-15DE8C30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90900"/>
            <a:ext cx="1447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电商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AD49BC-2758-4B80-8129-A31D4FF9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71475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4848"/>
                </a:solidFill>
                <a:latin typeface="Aptos"/>
                <a:ea typeface="Aptos"/>
                <a:cs typeface="Aptos"/>
              </a:rPr>
              <a:t>对照验证场景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0E814F-28F9-4D56-8E47-F2196EB7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886200"/>
            <a:ext cx="1447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物流/自提/虚拟权益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39971A-5810-47F4-9441-3709DE82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57550"/>
            <a:ext cx="1714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FE3594-4BE6-4246-8EEA-DECAADF1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90900"/>
            <a:ext cx="1447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服务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A9B3B1-1756-4AA9-B636-8ED009DE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1475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4848"/>
                </a:solidFill>
                <a:latin typeface="Aptos"/>
                <a:ea typeface="Aptos"/>
                <a:cs typeface="Aptos"/>
              </a:rPr>
              <a:t>受控补充场景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3768F-5978-4DF5-B939-B44FAF59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86200"/>
            <a:ext cx="1447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只做到店预约核销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28CFA8-845B-4EE0-815B-F44DB2E3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57550"/>
            <a:ext cx="1714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F2DC0E-A4B1-44C5-BC3B-F23996C9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1447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服务台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2714DD-B91E-4323-9D82-E9A4B2C6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1475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4848"/>
                </a:solidFill>
                <a:latin typeface="Aptos"/>
                <a:ea typeface="Aptos"/>
                <a:cs typeface="Aptos"/>
              </a:rPr>
              <a:t>平台护城河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1D35F-5048-4772-931E-518A7B94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86200"/>
            <a:ext cx="1447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双客服/工单/结算阻断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78E18D-762A-4469-B131-86FBFB1A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769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产品经理主讲 · 2026-05-27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E0C0F8-6D52-46B3-8D06-E3476D76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370367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5736F8-42C8-417B-944A-AB1C73CE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179B1-2361-424B-A2BA-6EB35D2C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本次同步不是讨论方向，而是统一首发产品形态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65F6E-9FCF-427A-A34A-BD25A317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听众需要带走：主线、页面闭环、首发边界和迭代判断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D086C-5EC0-41C9-94BF-F463D04D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AF3DC8-6858-47A5-A926-AAC2CFA9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31908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E8E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10259F-8EA3-4C97-984E-AB1C1A56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28479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要讲清的主线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49282-210C-4C79-BBFB-0DC18E77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28479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社群建店 -&gt; 发布/选卖供给 -&gt; 分享成交 -&gt; 订单服务台 -&gt; 履约售后 -&gt; 收益结算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4B793-0969-4BF6-B375-3D81FA9D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714500"/>
            <a:ext cx="31908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4495F2-4D8C-465C-9D60-30F87D84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866900"/>
            <a:ext cx="28479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要讲清的页面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E63C3-9D00-4D0F-BE04-E3EA1C77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171700"/>
            <a:ext cx="28479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团长端、团员端、创建活动、创建商品、详情/须知、订单详情、订单服务台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40B9B-8D1B-4E47-BE59-FB378B5C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0"/>
            <a:ext cx="31908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BB2434-D578-480A-ADD9-AB9470D0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66900"/>
            <a:ext cx="28479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要讲清的边界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00734A-A0F1-4B73-9A18-05AD6BFF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8479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一级收益、低风险白名单、优惠退款回退；不做多级、保证金、会员权限和大群社区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8B897-E879-4973-B79E-287A24FF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4000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E80A2-BF3E-4893-8F7C-3B3342E5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057650"/>
            <a:ext cx="365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产品经理视角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D6F774-26CB-4E2B-9AD4-97ED8D62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362450"/>
            <a:ext cx="3657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重点是用户怎样完成经营、消费者怎样履约、平台怎样监督责任。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174419-1F22-4B09-ACE3-8827CF8D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4000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035D7A-BBA8-491F-869D-B6197BAC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365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不再作为主线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5EDE7C-3EBE-4C10-8C7B-8A042F3C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3657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不把 PPT 讲成开发预研任务清单，也不承诺尚未核验的自动打款。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DB81FF-7731-4770-A525-132F792C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8921921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4C1DC9-4F9B-4C61-B614-2C5EC156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2DC8D-15BD-44CA-BBF0-6330E80E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新增资料改变的不是方向，而是产品重心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45ADE-23EF-463F-BE1A-81F9E5C0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核心从“有货可卖”前移到“交易之后可被监督”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E4146-CA05-43CE-BA14-84C70C26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933EE2-3FE0-4128-87F9-D6CD211C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0F71C8-3EBC-4F06-9E3F-BD348ABD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DDAB3B-F8C8-4C19-94BC-29F321FB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4848"/>
                </a:solidFill>
                <a:latin typeface="Aptos"/>
                <a:ea typeface="Aptos"/>
                <a:cs typeface="Aptos"/>
              </a:rPr>
              <a:t>小红书详情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C6642-941C-45FB-9D55-D690A4AAA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3830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8C086-B551-4BF8-A4FB-440E9752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16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467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BD54B7-1A94-4FE2-B8F2-4573A5E3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4848"/>
                </a:solidFill>
                <a:latin typeface="Aptos"/>
                <a:ea typeface="Aptos"/>
                <a:cs typeface="Aptos"/>
              </a:rPr>
              <a:t>首屏评论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5786A0-67F0-4222-9A36-5AE2DDF8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3830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6ACFC4-EB08-4AED-A3F2-B6CC900D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716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2E6B49-50B4-4F09-826B-036D2B0C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9550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4848"/>
                </a:solidFill>
                <a:latin typeface="Aptos"/>
                <a:ea typeface="Aptos"/>
                <a:cs typeface="Aptos"/>
              </a:rPr>
              <a:t>官方来源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CCA3FF-51D9-441A-B7B6-0D7A5CB9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3830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0F0581-E8C7-46AD-B5A6-F98C3C88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716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106.3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56D38D-BDA3-4E4C-9E67-4499EE77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9550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4848"/>
                </a:solidFill>
                <a:latin typeface="Aptos"/>
                <a:ea typeface="Aptos"/>
                <a:cs typeface="Aptos"/>
              </a:rPr>
              <a:t>活动方向分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B4B1C6-BEEF-4FE6-AC55-0E8B9C5C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3830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0730A2-FC2C-4D46-AFEA-AB307CFE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7716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103.2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EA5DEA-1AA8-49BC-9C63-12F10AD8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9550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4848"/>
                </a:solidFill>
                <a:latin typeface="Aptos"/>
                <a:ea typeface="Aptos"/>
                <a:cs typeface="Aptos"/>
              </a:rPr>
              <a:t>电商方向分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8137FB-67E7-48CF-9400-66056776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3830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F84271-C5FE-4BE7-873B-8C63124B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716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70.1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03A4F8-0D33-4DB2-B94F-B0721B09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9550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4848"/>
                </a:solidFill>
                <a:latin typeface="Aptos"/>
                <a:ea typeface="Aptos"/>
                <a:cs typeface="Aptos"/>
              </a:rPr>
              <a:t>本地服务方向分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809688-BF09-4DCA-B383-AC5D4CD5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314325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E8E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858795-EE26-4A85-848D-FAE66727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956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新录音.pdf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DE8417-47D0-4ABC-A3C9-0676BC56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00450"/>
            <a:ext cx="28003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活动小群不应先做成大社区，而应转译为订单服务台、双客服响应和售后工单闭环。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8DBA91-9B9F-43F6-A73A-65D60E65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143250"/>
            <a:ext cx="314325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273273-E33F-4611-8B3F-FB3E1EBB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2956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商单系统讨论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7C8728-694B-499F-8219-DC8474A7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600450"/>
            <a:ext cx="28003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提取“谁通过平台赚到钱，平台才有抽佣依据”；复杂多级、保证金、会员可见后置。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C91AA6-A8F8-4E51-861F-AF80AF0A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314325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40A3C9-3E99-4A21-BFE6-0C344B6C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956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产品落地稿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0BF699-66BF-4368-905F-25220B47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00450"/>
            <a:ext cx="28003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团长端、团员端、创建活动、创建商品、详情、订单等已形成 MVP 页面骨架。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7EA765-A275-44BF-B670-69448D67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2988932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93A5E2-F59B-44EC-8C71-F11132B0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3739D-2663-45F5-BC39-FA0FB9DF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产品主线围绕一笔社群交易展开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1461E-5743-4E88-A866-29D56C5F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订单服务台把成交后的履约、售后、退款和结算串起来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98D28-AD92-4E5D-8CB3-B6681B5B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348FA-75E5-4B0D-960C-265C412A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682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CADE6-1876-4A31-A19A-EB28A2E2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141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社群建店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ECC8F8-3C6F-4D48-9531-9E572F29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28850"/>
            <a:ext cx="1416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主类型/标签生成专属主页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74BDAA-53D9-4C65-85C7-53F1E926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025" y="2085975"/>
            <a:ext cx="95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3DE20-F46D-4AF2-8F2E-1581D7282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3800" y="1809750"/>
            <a:ext cx="1682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CBF5A4-C0EB-463C-BF8C-7961AF5A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7150" y="1924050"/>
            <a:ext cx="141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发布/选卖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EA081B-55E9-4AF8-8D91-79A3DBD6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7150" y="2228850"/>
            <a:ext cx="1416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审核货盘与白名单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9F7A29-9771-43B3-AE62-59BE2BE5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075" y="2085975"/>
            <a:ext cx="95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52D5E-72C2-40AD-A43C-841D5C3A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0850" y="1809750"/>
            <a:ext cx="1682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059FB7-E7DC-4B25-8013-2B40DE9C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4200" y="1924050"/>
            <a:ext cx="141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分享成交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6BBADF-BAA0-4D63-9A99-726B2018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4200" y="2228850"/>
            <a:ext cx="1416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唯一直接推广归因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956984-4B58-47F7-996E-F204CA9E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085975"/>
            <a:ext cx="95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085A72-27AD-4A41-9ED5-736F250D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09750"/>
            <a:ext cx="1682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385C"/>
          </a:solidFill>
          <a:ln xmlns:a="http://schemas.openxmlformats.org/drawingml/2006/main" w="9525">
            <a:solidFill>
              <a:srgbClr val="FF385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AC935F-DE99-4A44-96D9-C6F65735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24050"/>
            <a:ext cx="141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订单服务台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551B-9D9D-4A5E-8A83-9BAB7A32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28850"/>
            <a:ext cx="1416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咨询/双客服/工单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442130-B236-4E86-8A83-D851D84A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0175" y="2085975"/>
            <a:ext cx="95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7C9BEF-9E11-403B-AD2C-50C58B8F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4950" y="1809750"/>
            <a:ext cx="1682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C2C8F5-1AC0-4458-8297-4B38F35D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1924050"/>
            <a:ext cx="141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履约售后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E0F1CC-E93F-4AFA-AECC-1C2490D5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228850"/>
            <a:ext cx="1416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核销/发货/自提/权益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CECBE1-AA7B-40A2-9033-2F72594D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225" y="2085975"/>
            <a:ext cx="95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70CA24-14BC-408E-8412-16A6CC56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0" y="1809750"/>
            <a:ext cx="1682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A50C51-4EFE-4A18-AD11-4347CE46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5350" y="1924050"/>
            <a:ext cx="141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收益结算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D391B9-C7BA-4094-874D-28F7B73B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5350" y="2228850"/>
            <a:ext cx="1416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优惠承担/退款回退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2969E4-EA10-4F69-955A-C789AD54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29000"/>
            <a:ext cx="4381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31220A-9B03-47C3-954E-B0BA4A03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403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为什么加订单服务台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9A6A84-5EC6-455E-A474-F6852471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86200"/>
            <a:ext cx="403860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用户购买后再次进入，不应重新看销售页，而应看到待使用、退款、客服和履约状态。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049AF5-BC19-44CF-A3E1-B9C050F3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4381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E8E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BC66DA-379D-4A65-B830-1F642366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81400"/>
            <a:ext cx="403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平台凭什么抽佣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AC8B09-AFEF-40FC-A112-3BD1C897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86200"/>
            <a:ext cx="403860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平台不是只给货，而是监督交易链路：问题未闭环时可阻断或延后结算。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D96C83-0E17-4174-9510-799423BA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4984232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831A7C-095F-468E-B3C8-97BE4F38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CA2E8-CA84-47F0-8808-52BC1823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落地稿把 MVP 信息架构拉清楚了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1330F-7EF7-4025-85FB-C76761C9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首发必须同时讲清团长经营端和团员履约端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661CE6-67C1-445F-90B1-A13FDBF1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C0973-8DDE-47D0-AC2B-3492D77D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2381250" cy="4095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030617-5B85-4DD0-9673-371FCF77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562100"/>
            <a:ext cx="2209800" cy="39243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E12F53-6AAF-4CDC-833D-60A8458C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049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9:41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D91FDF-2A03-4484-B6D7-54AEE6C2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90725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团长经营工作台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31D98F-F01E-4C2D-B55E-8F56AF9F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9825"/>
            <a:ext cx="19240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00F85-8A02-47F2-B637-54FD177E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2412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我的收入 / 订单报名 / 核销管理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B7EE9F-642F-4A19-B3CB-B0CB904E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05100"/>
            <a:ext cx="1657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经营首页三入口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60ADF7-3560-4FB0-9D87-7E3215C8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33725"/>
            <a:ext cx="19240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7B4693-BE72-4B7C-9168-693F8F85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4802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我的社群设置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EE336-19EB-433C-8DF2-0428E8D3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1657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模板与社群资料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59CE13-1680-4BAC-9163-840C3D91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00475"/>
            <a:ext cx="19240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611A13-9B6E-4F81-B0CE-BB1120DC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1477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邀请他人帮卖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F8ED8B-10A5-4E49-87C2-3B5138F9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1657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一级推广入口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E5C108-C982-4DB1-886D-DD18FA66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67225"/>
            <a:ext cx="19240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C1408A-CCE7-402B-B7AE-34082A5C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8152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联系官方客服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BB3BBD-DB68-4B25-9A53-1ACD5FF2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62500"/>
            <a:ext cx="1657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服务台入口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3F5773-BA09-405B-9EB9-54418A7F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76375"/>
            <a:ext cx="2381250" cy="4095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FAD06E-4477-446A-8611-31E44C08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1562100"/>
            <a:ext cx="2209800" cy="39243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BFF588-F781-4CB3-87D6-E8968D1B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7049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9:41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FFDC1B-76E6-40F6-9254-20CF8DFB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990725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团员履约中心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336EB2-3F66-4BFD-BE82-5ED4B07D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409825"/>
            <a:ext cx="19240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BD220C-3382-4469-B2CE-0887A5F2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52412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活动订单 / 卡券订单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2CB6D3-BFF7-4BD1-8CE3-B98A524B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05100"/>
            <a:ext cx="1657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票务与虚拟权益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5F95C2-8820-4421-90C5-3FA5968C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76575"/>
            <a:ext cx="19240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53A8C8-54A7-4466-9E15-79535777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19087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物流订单 / 自提订单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29B386-275E-4EDE-9B7E-B2783C65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371850"/>
            <a:ext cx="1657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电商三履约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8CFC19-D2CC-444F-A244-71E277D7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43325"/>
            <a:ext cx="19240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A6436A-511D-43E0-AC39-9F38BADE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85762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浏览历史 / 设置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4C6B49-899A-4D4E-AADA-D97EB81C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038600"/>
            <a:ext cx="1657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个人中心基础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F87F8D-44DA-4944-BF6C-0575B4D2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000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E8E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C0C9D4-C88B-4BD4-8518-405CD09B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66900"/>
            <a:ext cx="365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产品判断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F7397A-C3A5-4B50-82D7-946EC387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71700"/>
            <a:ext cx="3657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团长端负责经营，团员端负责履约；两端都应能快速回到订单服务台。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0F3B46-A7D0-4AF1-89A6-31538EDA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000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066E93-111F-4231-911E-1B7B4001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86150"/>
            <a:ext cx="365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首发边界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05EFC8-366F-4494-AC79-F273EF9B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90950"/>
            <a:ext cx="3657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不是做完整后台，也不是做大社区；先把订单、核销、客服、退款和收益入口串起来。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245060-638A-4CB1-9336-F8ADCC05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057150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5066BE-F95A-44DC-BEA9-065235BF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0FA518-9AE8-4019-B8D4-009FD262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活动是主验证场景，发布表单要先落地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3A791A-FACA-4D39-A506-559A3F06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现有活动交易基础最接近，适合先验证履约售后闭环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DB2ED-6F47-4FE1-B91D-50F8CA7B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055F8-2A72-46BB-9D78-B0AD8720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2571750" cy="433387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E84E52-355B-464B-B4BA-6835DF75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514475"/>
            <a:ext cx="2400300" cy="41624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2C1A4-FEB9-477F-A94C-13FA49A4B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573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9:41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2DCC51-371B-4462-800C-E54DB638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4310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创建组团活动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B1B7CE-A3E4-4767-A013-16E872D9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15607A-EF98-4C08-9E0F-B379AC8B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1847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活动名称 / 描述 / 封面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BF012C-B80A-4B4A-953D-09F3F335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57475"/>
            <a:ext cx="1847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销售与规则披露基础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906BA-6D73-453B-929A-9CF25B0A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2895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48D061-1395-4F3F-908E-4077AC30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1847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地点 / 场次 / 报名截止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F47A33-E98F-4EFD-8687-176E813C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24225"/>
            <a:ext cx="1847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多场次配置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E84602-A81D-43D8-A9B7-A14AB742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9570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1F23B9-3A90-464B-B855-AFEF03AA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1847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票种分组 / 价格 / 名额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033C26-4B22-4EC5-A72B-FFE01157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90975"/>
            <a:ext cx="1847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报名库存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2BB49A-D474-427B-A789-1778F6A1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6245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ABDF94-5465-4D70-9026-61D001B1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76750"/>
            <a:ext cx="1847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报名信息 / 保险 / 核销方式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F83C10-9A13-460A-86A0-48FC2B8A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57725"/>
            <a:ext cx="1847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履约字段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EC7D52-96D6-4530-AC3F-9A356494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19250"/>
            <a:ext cx="3143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E8E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A5EA1A-48DA-4108-B231-C3D51A03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716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首发要做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598337-98BA-473D-A9BB-D256BFF1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76450"/>
            <a:ext cx="2800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场次、票种、报名信息、保险、退款规则、验码核销。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C4733E-DBFF-4D44-A936-45282E87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38500"/>
            <a:ext cx="3143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2F0DCC-C0F7-49FB-84A0-57F7B2AF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9090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暂不开放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41FC89-35BC-4B83-884D-AA5C2E94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95700"/>
            <a:ext cx="2800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高风险户外、复杂多日行程、强效果承诺活动。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CD63C3-DDD6-4669-99A9-165DEF32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95500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A693F1-77FC-4F88-8E95-D01DCD1D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4790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为什么这页重要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A0CC6F-8616-4A2A-878C-D25C9548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52700"/>
            <a:ext cx="2800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购买须知和退款规则不是后置说明，而是后续订单详情、售后工单和结算回退的依据。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9C7646-67E8-4EA8-B75D-6052019D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5236909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18F11C-DBF3-4DF4-9B9E-F437D6DC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413FA1-1C7A-42EA-BA55-3D2F5A4E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电商是对照验证，复杂度来自三种履约方式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B17517-6DA0-4962-BDE0-DF9F0E9D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商品发布不是列表页问题，而是物流、自提、虚拟权益共用同一订单底座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E025C-D2D4-40F0-812F-21650D20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3ECAB-1D60-41D8-8BEB-87FA6CD5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2476500" cy="4333875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A94A2A-98ED-4D9A-8754-90EFB381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514475"/>
            <a:ext cx="2305050" cy="4162425"/>
          </a:xfrm>
          <a:prstGeom xmlns:a="http://schemas.openxmlformats.org/drawingml/2006/main" prst="roundRect">
            <a:avLst>
              <a:gd name="adj" fmla="val 3306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E41070-3CDF-413E-A6C9-F9FEDDA4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573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9:41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284619-0867-4F40-AFAF-4112957E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43100"/>
            <a:ext cx="1943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创建商品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494F69-6E21-4053-A86E-2E38A17D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19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8B40F-06A2-48C7-B6F2-E6B58972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76500"/>
            <a:ext cx="1752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商品名称 / 详情 / 图片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C77B89-B6EB-47B2-BB01-A1B06AE3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57475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基础信息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94A0DA-1D95-4DA7-9F55-B4D69200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09900"/>
            <a:ext cx="20193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1E5CBB-B8A7-4EEB-9A6D-359A2A2D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24200"/>
            <a:ext cx="1752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售卖时间 / 售卖方式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FFF2BB-C91A-40E7-B1E4-9B8D3438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05175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物流/自提/虚拟权益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AA59F9-ED5E-4CFA-B052-32380A53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76650"/>
            <a:ext cx="20193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A75FA3-829F-4C59-BB01-35FAB8E9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90950"/>
            <a:ext cx="1752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售后规则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D579F6-0D44-423E-893D-B9B6D250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71925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发货前退 / 未使用退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0C9B91-0FDB-44E2-A1D3-EB72261D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20193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896983-70C0-4EC2-8685-131306BF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57700"/>
            <a:ext cx="1752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规格 / 价格 / 库存 / 限购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A37326-DE49-4A1B-B9B0-49C1FBEE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38675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交易字段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C26029-8FF0-473F-A34B-94EC9B36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809750"/>
            <a:ext cx="209550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0F11CE-C3E6-4A53-A7FE-E72665E1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924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物流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91862A-CCC7-4FB3-9614-62173F01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228850"/>
            <a:ext cx="1828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发货状态、物流信息、退货退款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853520-2B29-4D0F-AC08-961A5F0C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09550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B23CEF-93A1-49B2-A181-91ED26A9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4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自提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F53AAB-327C-4329-BACC-78ADA083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28850"/>
            <a:ext cx="1828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提货点、提货时间、提货码、未核销退款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F35312-8089-462E-9183-720C0499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809750"/>
            <a:ext cx="209550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385C"/>
          </a:solidFill>
          <a:ln xmlns:a="http://schemas.openxmlformats.org/drawingml/2006/main" w="9525">
            <a:solidFill>
              <a:srgbClr val="FF385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5B2C5B-5F08-4EB7-94DF-C2121C77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924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虚拟权益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996078-21C4-46CC-B6F2-6152762D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28850"/>
            <a:ext cx="1828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电子券/次卡发放、使用状态、未使用退款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EAC108-AF1C-416B-A6AD-0F76EA90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10000"/>
            <a:ext cx="6191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E0E0D6-6808-4498-870C-27B87E65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962400"/>
            <a:ext cx="584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首发边界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53E9EA-D3D6-4088-AF49-E8330386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267200"/>
            <a:ext cx="584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不开放食品生鲜、美容医疗、资质复杂或售后责任不清品类。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E2F3D0-B5FE-4B23-A5AB-75B65411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7673022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3E4713-B9B0-4CB4-B31C-F8866579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C9EB58-6275-4B92-94D2-6C6D8154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本地服务只做受控补充，从到店预约核销切入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06A01-D047-48EE-8ABE-CAFC83B7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不把上门、高责任或强效果服务带进首发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B8C1C-BE02-435E-AEF7-07FE613A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092C35-EE3A-475B-8910-E78B831D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62125"/>
            <a:ext cx="20002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362D7A-B450-421B-BC1A-5F447AA9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76425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服务上架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A676C7-1DAC-4723-A051-C8F29C80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81225"/>
            <a:ext cx="17335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门店、服务规格、可预约时段、服务方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960804-7FC3-40C9-A636-505C083D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62125"/>
            <a:ext cx="20002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579914-ACFB-4613-84E7-4DD8144E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76425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预约下单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0FA91-A135-4F72-A898-A34B2A84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81225"/>
            <a:ext cx="17335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消费者选择时段并支付，记录推荐来源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48E214-4F6C-413D-976F-F594229F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62125"/>
            <a:ext cx="20002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385C"/>
          </a:solidFill>
          <a:ln xmlns:a="http://schemas.openxmlformats.org/drawingml/2006/main" w="9525">
            <a:solidFill>
              <a:srgbClr val="FF385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87A8B7-4C83-47D6-86AC-205173C0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76425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到店核销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DAC6A-86D4-46D0-80CD-6B74AEA8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17335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完成服务后核销，保留凭证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3C97A3-D5F1-462B-BB2E-4EBEEFBD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20002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62FF4C-F20B-4D0B-9121-3D340897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76425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取消投诉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BBD0C-068D-4154-B83F-AE23EB3D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81225"/>
            <a:ext cx="17335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改期、未服务退款、投诉工单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177B64-CAB4-49CA-8059-B2B91177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62375"/>
            <a:ext cx="3810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E8E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B8F816-23F9-4861-97BA-95F1B4C2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914775"/>
            <a:ext cx="3467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适合首发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559549-D29D-4EBA-9613-15E85CCA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219575"/>
            <a:ext cx="3467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摄影、洗护、运动体验、亲子配套等到店预约型服务。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4921D7-5E5C-4193-91AE-028A1CEF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3810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2CBF84-83E2-4DDE-AB39-6BFC8D15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14775"/>
            <a:ext cx="3467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暂不开放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AF631E-A52E-4B90-9001-6F84C43A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19575"/>
            <a:ext cx="3467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上门维修/保洁、医疗美容、强效果承诺、人身安全责任高的服务。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518864-5D62-42C7-B0BB-77DCCC9B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5860541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48B9FF-7821-45B7-80C7-7DEBCA14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A692C-7174-46B6-A12D-F13B111F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订单服务台是本轮最重要的产品收敛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FD27A-5CEF-4690-9CEB-62B7541E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把活动小群转译为一笔订单的服务响应和结算监督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2F7614-4898-41C3-95C0-9D7A5DF6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ABCA7-FFFC-4A69-9F18-45982016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571750" cy="433387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BF649-62D4-46CC-A1E8-6CE06CCD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514475"/>
            <a:ext cx="2400300" cy="41624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3BFC1F-0582-4E5A-B946-9F646361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9:41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82FD12-B097-48C8-900C-3D245DEA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订单服务台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7F147A-C6CC-4AD7-8A44-C172740C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B77A3F-3946-4911-BDC0-516D75B7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76500"/>
            <a:ext cx="1847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官方客服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F3137D-C4B6-4B07-9FF5-F6096226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57475"/>
            <a:ext cx="1847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接收问题，监督处理进度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400F6F-2FC1-4429-899D-7CB920A7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2895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0E269E-1E21-4001-8C21-84308D76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1847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发布方客服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43B3E6-2819-4745-BE18-13B5EB9E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24225"/>
            <a:ext cx="1847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处理活动/商品/服务细节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F4C54-E60B-4953-A604-6EB44E5D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07C533-D411-47C9-925B-A33EBCE5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1847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售后工单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FB5E2F-3794-41CF-8B27-D4F22350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90975"/>
            <a:ext cx="1847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退款、投诉、核销争议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FC8EF8-232D-413D-9FEB-FB8B042E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6245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38C604-72A9-4730-A1CB-D4C4AFDA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76750"/>
            <a:ext cx="1847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待入账 / 结算阻断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9EBEE6-1901-41B0-A617-653624C2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57725"/>
            <a:ext cx="1847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问题未解决不释放收益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7E7D21-1A27-4D0C-B025-9210F5B1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66875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E8E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F64C90-A6DC-4CFC-9DD7-613E68B6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19275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用户视角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8E3244-6A65-4D0D-9A4A-3369B1E2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24075"/>
            <a:ext cx="2800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我买完以后，再点进来就应该看到待使用、退款和咨询，而不是重新销售页。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B328B9-5F2F-4B14-B849-2FC6DD22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66875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D81919-08D1-47E5-8AF0-A5E598A9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819275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平台视角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803175-8B47-40AA-B780-D537CF41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124075"/>
            <a:ext cx="2800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谁在这笔订单里赚钱，谁就要参与服务响应；售后未闭环，结算可被阻断。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F67DC-4ED4-4E81-99A4-0F28F69B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14750"/>
            <a:ext cx="4476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4B79C6-E8CC-4413-B6E5-41CA46CD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86715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产品边界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2C3E9E-5532-4068-8075-43DF0F22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71950"/>
            <a:ext cx="4133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服务台不是大群 IM，也不是内容社区；它围绕订单和活动服务闭环。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680647-A86F-450E-9B23-070287C7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2798571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500322-8A4C-4257-8CE5-8993C53F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7BEF5-5C48-4319-A71C-AF0F8D37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收益规则首发只保留一级，先算清楚再扩复杂商单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862C4F-4599-48AA-A7B3-9620A464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商单讨论的价值在规则，不在首发复制全部复杂度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BF0FDD-FE06-4D07-A99E-7778FC6B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CC7F8A-B4B7-40A3-8404-CA3E818E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285750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45001E-FA9F-4374-8F27-0D9CAD46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81175"/>
            <a:ext cx="2590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固定佣金分享赚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264F0E-415C-43CF-899F-EEDF1686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85975"/>
            <a:ext cx="2590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发布方设佣金，消费者价格一致；成交后推广方获得固定佣金。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1203E4-DA94-46A4-BA5A-60017C1C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66875"/>
            <a:ext cx="285750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385C"/>
          </a:solidFill>
          <a:ln xmlns:a="http://schemas.openxmlformats.org/drawingml/2006/main" w="9525">
            <a:solidFill>
              <a:srgbClr val="FF385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CF4B6A-AC74-481C-9FDD-9F2F5F82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81175"/>
            <a:ext cx="2590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加价帮卖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4EB2F9-B81B-4E38-8D82-60600C61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85975"/>
            <a:ext cx="2590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发布方设底价，推广方设终端售价；获得价差空间。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283E44-6816-4652-92F5-D4086517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66875"/>
            <a:ext cx="285750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7FF98A-08DB-4F74-A2EC-E50B3EBC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81175"/>
            <a:ext cx="2590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优惠券承担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4B3EAF-CECB-4862-8B65-7312B502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85975"/>
            <a:ext cx="2590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推广方发券优先从推广收益承担，不得侵蚀发布方底价。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7D8B65-1C18-446B-BFB9-452F0CFE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2857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DFA167-1E2A-44A7-A3B1-1D40CD86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6715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全额退款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711E09-A2BA-4107-ABDB-B2468C5C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71950"/>
            <a:ext cx="251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发布方结算、推广收益、平台交易服务费和优惠分摊全部取消。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0730AF-43F7-4720-9414-DCC5A957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14750"/>
            <a:ext cx="2857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04AA7E-5900-43E1-95B8-818A843E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86715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部分退款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157063-DB49-4905-BE33-2FD4CDAC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171950"/>
            <a:ext cx="251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按退款金额占实付金额的比例，冲回各方收益与优惠。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6C97A-AB56-4DC5-BD0A-863745C2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14750"/>
            <a:ext cx="2857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95FF34-9335-418C-A570-AD4756CD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6715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暂不首发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9165AD-069A-4D8E-B574-A42723A8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71950"/>
            <a:ext cx="251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多级转单、经销商层级、保证金、会员可见、复杂权限。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EEA024-7E13-4857-B593-5FDC7E56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5036640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4235DD-6B68-4290-8580-EAD80368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6B8602-BC96-4DA4-975D-070B7269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首发边界要足够硬，避免产品再次发散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3B49A-3DEB-42E3-85A3-79E52628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不是所有看起来能赚钱的能力都值得现在做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1E2F3-21B7-4363-8863-59E5FFC2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B83605-F968-4AAD-95B1-22B74DFC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28575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E8E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C13D91-8735-4D82-AEAD-944EA9DA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7165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首发必须做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2F4D54-6641-47EF-8D13-CAB9415C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76450"/>
            <a:ext cx="25146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团长/团员双端、发布活动/商品、详情须知、订单详情、服务台、一级收益。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D730C9-CBB8-4DE9-81C6-38CAECC9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19250"/>
            <a:ext cx="28575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A9DB38-F5D9-49DB-84CE-FE4283B1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77165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二期再验证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D21E85-FCE7-4590-81E0-83D769EF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76450"/>
            <a:ext cx="25146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AI 营销话术、群接龙、会员经营、内容服务、商单扩展。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3E470C-6DE2-4336-A084-21150BC8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8575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D7A8B0-9CB1-42C3-BD6F-2013FF48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77165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明确不开放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CCDE2C-8FFE-4BF8-8489-7D3D1C60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76450"/>
            <a:ext cx="25146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多级分销、保证金账户、会员权限、广告、上门/高责任服务。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CA149F-A6C8-4807-8810-096244A0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14750"/>
            <a:ext cx="4000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0ECAE8-50D6-4472-B1C0-F8AD7B72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867150"/>
            <a:ext cx="365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判断标准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19D917-BCCA-4572-86D7-E5A8649A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71950"/>
            <a:ext cx="3657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能否提高真实成交、复购或售后效率，同时不放大履约复杂度。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E6253-B61E-4024-AB9C-0A4061DF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14750"/>
            <a:ext cx="4000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CABC49-E7AA-4A58-B2AC-84A3B8FC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867150"/>
            <a:ext cx="365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支付门槛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1142DA-C213-49B4-BE06-CCB30A62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71950"/>
            <a:ext cx="3657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真实自动结算前，必须核验多履约、优惠分摊、双角色账户和退款回退。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6BF6EC-B01D-4FE8-9D94-166589F2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480978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F43581-D787-4C83-94BE-55B66547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EF3EFD-0013-463B-8496-E9FACDC0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产品迭代路线从页面闭环开始，再用真实订单验证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481715-6FB1-4604-841F-AB9B3CB1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先把最小可经营链路跑通，再决定扩展哪些能力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7999E-7A83-4E54-8D9D-86DAC9F5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2D716-FE32-4654-8254-4991C7EB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381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385C"/>
          </a:solidFill>
          <a:ln xmlns:a="http://schemas.openxmlformats.org/drawingml/2006/main" w="9525">
            <a:solidFill>
              <a:srgbClr val="FF385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AE61B2-F4FB-4671-BD68-66136B72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2114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交易履约闭环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EB1230-1F37-4AF9-8D28-2D52AA7D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28850"/>
            <a:ext cx="2114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双端主页、发布活动/商品、详情、订单详情、订单服务台。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74BA3E-5820-4FE8-AFCB-4B0F2B36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09750"/>
            <a:ext cx="2381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9A3FC-24D8-4BC1-9BA2-348F11EE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24050"/>
            <a:ext cx="2114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B 场景验证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44FA44-9C01-43BB-9414-6E932D51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28850"/>
            <a:ext cx="2114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活动票务、电商三履约、到店预约、优惠券、一级收益。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343C7B-18F0-461E-824E-61F15D66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09750"/>
            <a:ext cx="2381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C2ADF3-0E57-445D-9493-6A088EA6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2114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C 经营效率增强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517D88-18E3-42F1-8B7A-3044BD32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28850"/>
            <a:ext cx="2114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店铺数据、复购触达、素材提示、优惠策略、风险暂停。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8199E8-880D-4BC9-ACDF-1EC01B5E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09750"/>
            <a:ext cx="2381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A0F3E1-CF39-4D14-872A-C4DCAE83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924050"/>
            <a:ext cx="2114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D 扩展判断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C15546-2C60-4272-9BC0-9F99C675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28850"/>
            <a:ext cx="2114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AI 话术、群接龙、会员经营、商单扩展、内容服务另案验证。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1A7F06-7D9E-47DF-AB3C-D990580D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进入下一阶段的门槛：真实订单、来源可追踪、售后可闭环、收益不被退款和人工成本吞噬。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E53639-C2B4-4478-A14E-0BB80811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4788791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A35FCC-A87C-4575-BF8E-2DCA2283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8A756-CEB9-449C-8134-BEF97978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001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2222"/>
                </a:solidFill>
                <a:latin typeface="Aptos Display"/>
                <a:ea typeface="Aptos Display"/>
                <a:cs typeface="Aptos Display"/>
              </a:rPr>
              <a:t>会后结论：先把一笔社群交易服务好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F7DD69-D8A0-4B57-A8AB-61FB8ED8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产品经理同步的是产品形态、首发边界和迭代判断，不是泛概念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4495E-BE38-4772-BBC1-662EDA16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和趣社群店铺 | 产品经理同步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1BC17-E0ED-45FC-97FC-ADC25A76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4572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E8EE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99D219-D454-484D-ABCA-F6D6086C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7165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一句话定位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1E72C2-1422-44A2-9EE4-5D0ED244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76450"/>
            <a:ext cx="4229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社群店铺驱动的三场景私域变现平台，核心能力是订单服务、履约售后和结算监督。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ACAB2-6F8D-482D-AAA6-7F860217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19250"/>
            <a:ext cx="3619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3E8E55-A6F3-4D31-9D73-3DEB66A8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71650"/>
            <a:ext cx="3276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首发优先级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9A0F5A-10FE-4FF1-8AFC-3CC6E4B8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076450"/>
            <a:ext cx="3276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活动主验证，电商对照验证，本地服务受控补充。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03EA1F-2D0A-4E86-A11D-DD0D2CA2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2857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B12335-D693-4667-AF68-0FDA1098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814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落地页面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494CBE-EC08-4A3C-86F0-989A0419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251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团长端、团员端、创建活动、创建商品、详情/须知、订单详情、服务台。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7E920F-15B5-4DD7-9F39-DF98EF59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29000"/>
            <a:ext cx="2857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0D88C-59A2-4B46-B061-EF314CEE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5814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收益规则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A9259-2B8B-41A8-B831-E0319517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886200"/>
            <a:ext cx="251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一级固定佣金或加价帮卖，优惠承担清晰，退款按比例回退。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E3211-BCFD-430D-A588-FBB3D5F8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29000"/>
            <a:ext cx="2857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142619-4A14-494F-8855-18D02B15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坚决不做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6B666E-4A49-4A2E-8FB0-C0DAFFFB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886200"/>
            <a:ext cx="251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8484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84848"/>
                </a:solidFill>
                <a:latin typeface="Aptos"/>
                <a:ea typeface="Aptos"/>
                <a:cs typeface="Aptos"/>
              </a:rPr>
              <a:t>多级转单、保证金、会员权限、大群社区、广告和未核验自动打款。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97B6D5-3021-45D5-91C8-240A6830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246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A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A6A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352496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2026-05-27T03:24:52.8190000Z</dcterms:created>
  <dcterms:modified xsi:type="dcterms:W3CDTF">2026-05-27T03:24:52.8190000Z</dcterms:modified>
</coreProperties>
</file>